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Arial Black" panose="020B0A04020102020204" pitchFamily="34" charset="0"/>
      <p:bold r:id="rId14"/>
    </p:embeddedFont>
    <p:embeddedFont>
      <p:font typeface="Host Grotesk Light" panose="020B0604020202020204" charset="0"/>
      <p:regular r:id="rId15"/>
    </p:embeddedFont>
    <p:embeddedFont>
      <p:font typeface="Segoe UI Semibold" panose="020B0702040204020203" pitchFamily="34" charset="0"/>
      <p:bold r:id="rId16"/>
      <p:boldItalic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24314C5-14E3-4FF3-8771-AC85671E4B11}">
          <p14:sldIdLst>
            <p14:sldId id="256"/>
            <p14:sldId id="257"/>
            <p14:sldId id="258"/>
            <p14:sldId id="259"/>
            <p14:sldId id="260"/>
            <p14:sldId id="261"/>
            <p14:sldId id="262"/>
          </p14:sldIdLst>
        </p14:section>
        <p14:section name="Untitled Section" id="{179B3601-6EF4-47A5-973A-248CC31810A1}">
          <p14:sldIdLst>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1628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leadership. Today's review covers our performance audit spanning 50,000 orders across eight key cities between January 2025 and August 2026, establishing where our revenue stands and where data rigor must improve.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recorded transaction volume reached 26.87 million rupees from 50,000 distinct orders, with an average basket value of 525 rupees and a solid customer rating of 4.11 out of 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revenue demonstrates remarkable consistency, staying tightly bounded between 1.2M and 1.4M rupees. October 2025 was our high point, while February 2026 represented our only material dip.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distribution is flat across all eight operating territories. With Pune generating 3.45M and Hyderabad at 3.28M, the narrow 167k gap means resource allocation should look past headline city totals.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Absolute Barbecues leads partner revenue at approximately 669k rupees, closely followed by Saravana Bhavan at 636k. Our immediate priority is distinguishing volume-driven leaders from ticket-size beneficiaries.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Distance and delivery time: positive correlation of 0.57. Delivery time and rating: weak negative correlation of -0.10. These show association, not cause; traffic and prep time are not in the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leadership relies on platform-wide averages, we must clean our data inputs. 3,487 rows had zero delivery times—mirroring cancellations. The true completed delivery average is 34.89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6191A"/>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58786" y="660400"/>
            <a:ext cx="4724282"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FF3300"/>
                </a:solidFill>
                <a:latin typeface="Segoe UI Semibold" panose="020B0702040204020203" pitchFamily="34" charset="0"/>
                <a:ea typeface="Host Grotesk Medium" pitchFamily="34" charset="-122"/>
                <a:cs typeface="Segoe UI Semibold" panose="020B0702040204020203" pitchFamily="34" charset="0"/>
              </a:rPr>
              <a:t>EXECUTIVE BRIEFING · JAN 2025 – AUG 2026</a:t>
            </a:r>
            <a:endParaRPr lang="en-US" sz="1100" dirty="0">
              <a:solidFill>
                <a:srgbClr val="FF3300"/>
              </a:solidFill>
              <a:latin typeface="Segoe UI Semibold" panose="020B0702040204020203" pitchFamily="34" charset="0"/>
              <a:cs typeface="Segoe UI Semibold" panose="020B0702040204020203" pitchFamily="34" charset="0"/>
            </a:endParaRPr>
          </a:p>
        </p:txBody>
      </p:sp>
      <p:sp>
        <p:nvSpPr>
          <p:cNvPr id="3" name="Text 1"/>
          <p:cNvSpPr/>
          <p:nvPr/>
        </p:nvSpPr>
        <p:spPr>
          <a:xfrm>
            <a:off x="558786" y="1060537"/>
            <a:ext cx="4216295" cy="2139553"/>
          </a:xfrm>
          <a:prstGeom prst="rect">
            <a:avLst/>
          </a:prstGeom>
          <a:noFill/>
          <a:ln/>
        </p:spPr>
        <p:txBody>
          <a:bodyPr wrap="square" lIns="0" tIns="0" rIns="0" bIns="0" rtlCol="0" anchor="t">
            <a:normAutofit fontScale="77500" lnSpcReduction="20000"/>
          </a:bodyPr>
          <a:lstStyle/>
          <a:p>
            <a:pPr marL="0" indent="0" algn="l">
              <a:lnSpc>
                <a:spcPct val="120000"/>
              </a:lnSpc>
              <a:buNone/>
            </a:pPr>
            <a:r>
              <a:rPr lang="en-US" sz="5200" kern="100" spc="-52" dirty="0">
                <a:solidFill>
                  <a:srgbClr val="FF3300"/>
                </a:solidFill>
                <a:latin typeface="Segoe UI Semibold" panose="020B0702040204020203" pitchFamily="34" charset="0"/>
                <a:ea typeface="Host Grotesk Light" pitchFamily="34" charset="-122"/>
                <a:cs typeface="Segoe UI Semibold" panose="020B0702040204020203" pitchFamily="34" charset="0"/>
              </a:rPr>
              <a:t>Swiggy </a:t>
            </a:r>
          </a:p>
          <a:p>
            <a:pPr marL="0" indent="0" algn="l">
              <a:lnSpc>
                <a:spcPct val="120000"/>
              </a:lnSpc>
              <a:buNone/>
            </a:pPr>
            <a:r>
              <a:rPr lang="en-US" sz="5200" kern="100" spc="-52" dirty="0">
                <a:solidFill>
                  <a:srgbClr val="FF3300"/>
                </a:solidFill>
                <a:latin typeface="Segoe UI Semibold" panose="020B0702040204020203" pitchFamily="34" charset="0"/>
                <a:ea typeface="Host Grotesk Light" pitchFamily="34" charset="-122"/>
                <a:cs typeface="Segoe UI Semibold" panose="020B0702040204020203" pitchFamily="34" charset="0"/>
              </a:rPr>
              <a:t>Food Delivery</a:t>
            </a:r>
            <a:endParaRPr lang="en-US" sz="5200" dirty="0">
              <a:solidFill>
                <a:srgbClr val="FF3300"/>
              </a:solidFill>
              <a:latin typeface="Segoe UI Semibold" panose="020B0702040204020203" pitchFamily="34" charset="0"/>
              <a:cs typeface="Segoe UI Semibold" panose="020B0702040204020203" pitchFamily="34" charset="0"/>
            </a:endParaRPr>
          </a:p>
          <a:p>
            <a:pPr marL="0" indent="0" algn="l">
              <a:lnSpc>
                <a:spcPct val="90000"/>
              </a:lnSpc>
              <a:buNone/>
            </a:pPr>
            <a:r>
              <a:rPr lang="en-US" sz="5200" kern="100" spc="-52" dirty="0">
                <a:solidFill>
                  <a:srgbClr val="FF3300"/>
                </a:solidFill>
                <a:latin typeface="Segoe UI Semibold" panose="020B0702040204020203" pitchFamily="34" charset="0"/>
                <a:ea typeface="Host Grotesk Light" pitchFamily="34" charset="-122"/>
                <a:cs typeface="Segoe UI Semibold" panose="020B0702040204020203" pitchFamily="34" charset="0"/>
              </a:rPr>
              <a:t>Performance</a:t>
            </a:r>
            <a:endParaRPr lang="en-US" sz="5200" dirty="0">
              <a:solidFill>
                <a:srgbClr val="FF3300"/>
              </a:solidFill>
              <a:latin typeface="Segoe UI Semibold" panose="020B0702040204020203" pitchFamily="34" charset="0"/>
              <a:cs typeface="Segoe UI Semibold" panose="020B0702040204020203" pitchFamily="34" charset="0"/>
            </a:endParaRPr>
          </a:p>
          <a:p>
            <a:pPr marL="0" indent="0" algn="l">
              <a:lnSpc>
                <a:spcPct val="90000"/>
              </a:lnSpc>
              <a:buNone/>
            </a:pPr>
            <a:r>
              <a:rPr lang="en-US" sz="5200" kern="100" spc="-52" dirty="0">
                <a:solidFill>
                  <a:srgbClr val="FF3300"/>
                </a:solidFill>
                <a:latin typeface="Segoe UI Semibold" panose="020B0702040204020203" pitchFamily="34" charset="0"/>
                <a:ea typeface="Host Grotesk Light" pitchFamily="34" charset="-122"/>
                <a:cs typeface="Segoe UI Semibold" panose="020B0702040204020203" pitchFamily="34" charset="0"/>
              </a:rPr>
              <a:t>Review</a:t>
            </a:r>
            <a:endParaRPr lang="en-US" sz="5200" dirty="0">
              <a:solidFill>
                <a:srgbClr val="FF3300"/>
              </a:solidFill>
              <a:latin typeface="Segoe UI Semibold" panose="020B0702040204020203" pitchFamily="34" charset="0"/>
              <a:cs typeface="Segoe UI Semibold" panose="020B0702040204020203" pitchFamily="34" charset="0"/>
            </a:endParaRPr>
          </a:p>
        </p:txBody>
      </p:sp>
      <p:sp>
        <p:nvSpPr>
          <p:cNvPr id="4" name="Shape 2"/>
          <p:cNvSpPr/>
          <p:nvPr/>
        </p:nvSpPr>
        <p:spPr>
          <a:xfrm>
            <a:off x="558786" y="3433961"/>
            <a:ext cx="4216295" cy="12601"/>
          </a:xfrm>
          <a:prstGeom prst="roundRect">
            <a:avLst>
              <a:gd name="adj" fmla="val 49998"/>
            </a:avLst>
          </a:prstGeom>
          <a:solidFill>
            <a:schemeClr val="tx1">
              <a:alpha val="24000"/>
            </a:schemeClr>
          </a:solidFill>
          <a:ln/>
        </p:spPr>
      </p:sp>
      <p:sp>
        <p:nvSpPr>
          <p:cNvPr id="5" name="Text 3"/>
          <p:cNvSpPr/>
          <p:nvPr/>
        </p:nvSpPr>
        <p:spPr>
          <a:xfrm>
            <a:off x="558786" y="3708598"/>
            <a:ext cx="4216295" cy="688975"/>
          </a:xfrm>
          <a:prstGeom prst="rect">
            <a:avLst/>
          </a:prstGeom>
          <a:noFill/>
          <a:ln/>
        </p:spPr>
        <p:txBody>
          <a:bodyPr wrap="square" lIns="0" tIns="0" rIns="0" bIns="0" rtlCol="0" anchor="t">
            <a:normAutofit/>
          </a:bodyPr>
          <a:lstStyle/>
          <a:p>
            <a:pPr marL="0" indent="0" algn="l">
              <a:lnSpc>
                <a:spcPct val="129000"/>
              </a:lnSpc>
              <a:buNone/>
            </a:pPr>
            <a:r>
              <a:rPr lang="en-US" sz="1750" dirty="0">
                <a:solidFill>
                  <a:srgbClr val="FF3300"/>
                </a:solidFill>
                <a:latin typeface="Segoe UI Semibold" panose="020B0702040204020203" pitchFamily="34" charset="0"/>
                <a:ea typeface="Host Grotesk" pitchFamily="34" charset="-122"/>
                <a:cs typeface="Segoe UI Semibold" panose="020B0702040204020203" pitchFamily="34" charset="0"/>
              </a:rPr>
              <a:t>Operational baseline, revenue definitions, and strategic data priorities.</a:t>
            </a:r>
            <a:endParaRPr lang="en-US" sz="1750" dirty="0">
              <a:solidFill>
                <a:srgbClr val="FF3300"/>
              </a:solidFill>
              <a:latin typeface="Segoe UI Semibold" panose="020B0702040204020203" pitchFamily="34" charset="0"/>
              <a:cs typeface="Segoe UI Semibold" panose="020B0702040204020203" pitchFamily="34" charset="0"/>
            </a:endParaRPr>
          </a:p>
        </p:txBody>
      </p:sp>
      <p:sp>
        <p:nvSpPr>
          <p:cNvPr id="6" name="Text 4"/>
          <p:cNvSpPr/>
          <p:nvPr/>
        </p:nvSpPr>
        <p:spPr>
          <a:xfrm>
            <a:off x="558786" y="5373489"/>
            <a:ext cx="4216295" cy="511770"/>
          </a:xfrm>
          <a:prstGeom prst="rect">
            <a:avLst/>
          </a:prstGeom>
          <a:noFill/>
          <a:ln/>
        </p:spPr>
        <p:txBody>
          <a:bodyPr wrap="square" lIns="0" tIns="0" rIns="0" bIns="0" rtlCol="0" anchor="t">
            <a:normAutofit/>
          </a:bodyPr>
          <a:lstStyle/>
          <a:p>
            <a:pPr marL="0" indent="0" algn="l">
              <a:lnSpc>
                <a:spcPct val="129000"/>
              </a:lnSpc>
              <a:buNone/>
            </a:pPr>
            <a:r>
              <a:rPr lang="en-US" sz="1300" dirty="0">
                <a:solidFill>
                  <a:srgbClr val="FF3300"/>
                </a:solidFill>
                <a:latin typeface="Segoe UI Semibold" panose="020B0702040204020203" pitchFamily="34" charset="0"/>
                <a:ea typeface="Host Grotesk" pitchFamily="34" charset="-122"/>
                <a:cs typeface="Segoe UI Semibold" panose="020B0702040204020203" pitchFamily="34" charset="0"/>
              </a:rPr>
              <a:t>Leadership Performance Audit</a:t>
            </a:r>
            <a:endParaRPr lang="en-US" sz="1300" dirty="0">
              <a:solidFill>
                <a:srgbClr val="FF3300"/>
              </a:solidFill>
              <a:latin typeface="Segoe UI Semibold" panose="020B0702040204020203" pitchFamily="34" charset="0"/>
              <a:cs typeface="Segoe UI Semibold" panose="020B0702040204020203" pitchFamily="34" charset="0"/>
            </a:endParaRPr>
          </a:p>
          <a:p>
            <a:pPr marL="0" indent="0" algn="l">
              <a:lnSpc>
                <a:spcPct val="129000"/>
              </a:lnSpc>
              <a:buNone/>
            </a:pPr>
            <a:r>
              <a:rPr lang="en-US" sz="1300" dirty="0">
                <a:solidFill>
                  <a:srgbClr val="FF3300"/>
                </a:solidFill>
                <a:latin typeface="Segoe UI Semibold" panose="020B0702040204020203" pitchFamily="34" charset="0"/>
                <a:ea typeface="Host Grotesk" pitchFamily="34" charset="-122"/>
                <a:cs typeface="Segoe UI Semibold" panose="020B0702040204020203" pitchFamily="34" charset="0"/>
              </a:rPr>
              <a:t>Recorded vs. Delivered Analysis</a:t>
            </a:r>
            <a:endParaRPr lang="en-US" sz="1300" dirty="0">
              <a:solidFill>
                <a:srgbClr val="FF3300"/>
              </a:solidFill>
              <a:latin typeface="Segoe UI Semibold" panose="020B0702040204020203" pitchFamily="34" charset="0"/>
              <a:cs typeface="Segoe UI Semibold" panose="020B0702040204020203" pitchFamily="34" charset="0"/>
            </a:endParaRPr>
          </a:p>
        </p:txBody>
      </p:sp>
      <p:sp>
        <p:nvSpPr>
          <p:cNvPr id="7" name="Text 5"/>
          <p:cNvSpPr/>
          <p:nvPr/>
        </p:nvSpPr>
        <p:spPr>
          <a:xfrm>
            <a:off x="558786" y="6024959"/>
            <a:ext cx="4216295" cy="223441"/>
          </a:xfrm>
          <a:prstGeom prst="rect">
            <a:avLst/>
          </a:prstGeom>
          <a:noFill/>
          <a:ln/>
        </p:spPr>
        <p:txBody>
          <a:bodyPr wrap="none" lIns="0" tIns="0" rIns="0" bIns="0" rtlCol="0" anchor="t"/>
          <a:lstStyle/>
          <a:p>
            <a:pPr marL="0" indent="0" algn="l">
              <a:lnSpc>
                <a:spcPct val="133000"/>
              </a:lnSpc>
              <a:buNone/>
            </a:pPr>
            <a:r>
              <a:rPr lang="en-US" sz="1100" kern="100" spc="22" dirty="0">
                <a:solidFill>
                  <a:srgbClr val="FF3300"/>
                </a:solidFill>
                <a:latin typeface="Segoe UI Semibold" panose="020B0702040204020203" pitchFamily="34" charset="0"/>
                <a:ea typeface="Host Grotesk" pitchFamily="34" charset="-122"/>
                <a:cs typeface="Segoe UI Semibold" panose="020B0702040204020203" pitchFamily="34" charset="0"/>
              </a:rPr>
              <a:t>Dataset scope: 50,000 distinct orders · 8 metro markets</a:t>
            </a:r>
            <a:endParaRPr lang="en-US" sz="1100" dirty="0">
              <a:solidFill>
                <a:srgbClr val="FF3300"/>
              </a:solidFill>
              <a:latin typeface="Segoe UI Semibold" panose="020B0702040204020203" pitchFamily="34" charset="0"/>
              <a:cs typeface="Segoe UI Semibold" panose="020B0702040204020203" pitchFamily="34" charset="0"/>
            </a:endParaRPr>
          </a:p>
        </p:txBody>
      </p:sp>
      <p:pic>
        <p:nvPicPr>
          <p:cNvPr id="10" name="Picture 9">
            <a:extLst>
              <a:ext uri="{FF2B5EF4-FFF2-40B4-BE49-F238E27FC236}">
                <a16:creationId xmlns:a16="http://schemas.microsoft.com/office/drawing/2014/main" id="{9621B1D9-7405-2868-AF77-8B0D478DFF43}"/>
              </a:ext>
            </a:extLst>
          </p:cNvPr>
          <p:cNvPicPr>
            <a:picLocks noChangeAspect="1"/>
          </p:cNvPicPr>
          <p:nvPr/>
        </p:nvPicPr>
        <p:blipFill>
          <a:blip r:embed="rId3"/>
          <a:stretch>
            <a:fillRect/>
          </a:stretch>
        </p:blipFill>
        <p:spPr>
          <a:xfrm>
            <a:off x="5731809" y="496421"/>
            <a:ext cx="5751979" cy="5751979"/>
          </a:xfrm>
          <a:prstGeom prst="rect">
            <a:avLst/>
          </a:prstGeom>
        </p:spPr>
      </p:pic>
      <p:sp>
        <p:nvSpPr>
          <p:cNvPr id="11" name="Rectangle: Rounded Corners 10">
            <a:extLst>
              <a:ext uri="{FF2B5EF4-FFF2-40B4-BE49-F238E27FC236}">
                <a16:creationId xmlns:a16="http://schemas.microsoft.com/office/drawing/2014/main" id="{5DF3A9E7-632C-74F8-F045-8EFD788E8704}"/>
              </a:ext>
            </a:extLst>
          </p:cNvPr>
          <p:cNvSpPr/>
          <p:nvPr/>
        </p:nvSpPr>
        <p:spPr>
          <a:xfrm>
            <a:off x="11044518" y="6517340"/>
            <a:ext cx="1147482" cy="34065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rgbClr val="FF3300"/>
                </a:solidFill>
                <a:latin typeface="Arial Black" panose="020B0A04020102020204" pitchFamily="34" charset="0"/>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FF3300"/>
                </a:solidFill>
                <a:latin typeface="Segoe UI Semibold" panose="020B0702040204020203" pitchFamily="34" charset="0"/>
                <a:ea typeface="Host Grotesk Medium" pitchFamily="34" charset="-122"/>
                <a:cs typeface="Segoe UI Semibold" panose="020B0702040204020203" pitchFamily="34" charset="0"/>
              </a:rPr>
              <a:t>TOP-LINE METRICS</a:t>
            </a:r>
            <a:endParaRPr lang="en-US" sz="1100" dirty="0">
              <a:solidFill>
                <a:srgbClr val="FF3300"/>
              </a:solidFill>
              <a:latin typeface="Segoe UI Semibold" panose="020B0702040204020203" pitchFamily="34" charset="0"/>
              <a:cs typeface="Segoe UI Semibold" panose="020B0702040204020203" pitchFamily="34" charset="0"/>
            </a:endParaRPr>
          </a:p>
        </p:txBody>
      </p:sp>
      <p:sp>
        <p:nvSpPr>
          <p:cNvPr id="3" name="Text 1"/>
          <p:cNvSpPr/>
          <p:nvPr/>
        </p:nvSpPr>
        <p:spPr>
          <a:xfrm>
            <a:off x="609585" y="986115"/>
            <a:ext cx="10972526" cy="426641"/>
          </a:xfrm>
          <a:prstGeom prst="rect">
            <a:avLst/>
          </a:prstGeom>
          <a:noFill/>
          <a:ln/>
        </p:spPr>
        <p:txBody>
          <a:bodyPr wrap="none" lIns="0" tIns="0" rIns="0" bIns="0" rtlCol="0" anchor="t"/>
          <a:lstStyle/>
          <a:p>
            <a:pPr marL="0" indent="0" algn="l">
              <a:lnSpc>
                <a:spcPct val="93000"/>
              </a:lnSpc>
              <a:buNone/>
            </a:pPr>
            <a:r>
              <a:rPr lang="en-US" sz="3000" kern="100" spc="-15" dirty="0">
                <a:solidFill>
                  <a:srgbClr val="FF3300"/>
                </a:solidFill>
                <a:latin typeface="Segoe UI Semibold" panose="020B0702040204020203" pitchFamily="34" charset="0"/>
                <a:ea typeface="Host Grotesk Light" pitchFamily="34" charset="-122"/>
                <a:cs typeface="Segoe UI Semibold" panose="020B0702040204020203" pitchFamily="34" charset="0"/>
              </a:rPr>
              <a:t>Recorded revenue reached ₹26.87M across 50,000 orders</a:t>
            </a:r>
            <a:endParaRPr lang="en-US" sz="3000" dirty="0">
              <a:solidFill>
                <a:srgbClr val="FF3300"/>
              </a:solidFill>
              <a:latin typeface="Segoe UI Semibold" panose="020B0702040204020203" pitchFamily="34" charset="0"/>
              <a:cs typeface="Segoe UI Semibold" panose="020B0702040204020203" pitchFamily="34" charset="0"/>
            </a:endParaRPr>
          </a:p>
        </p:txBody>
      </p:sp>
      <p:sp>
        <p:nvSpPr>
          <p:cNvPr id="4" name="Text 2"/>
          <p:cNvSpPr/>
          <p:nvPr/>
        </p:nvSpPr>
        <p:spPr>
          <a:xfrm>
            <a:off x="609585" y="1624211"/>
            <a:ext cx="7213420" cy="295275"/>
          </a:xfrm>
          <a:prstGeom prst="rect">
            <a:avLst/>
          </a:prstGeom>
          <a:noFill/>
          <a:ln/>
        </p:spPr>
        <p:txBody>
          <a:bodyPr wrap="none" lIns="0" tIns="0" rIns="0" bIns="0" rtlCol="0" anchor="t"/>
          <a:lstStyle/>
          <a:p>
            <a:pPr marL="0" indent="0" algn="l">
              <a:lnSpc>
                <a:spcPct val="129000"/>
              </a:lnSpc>
              <a:buNone/>
            </a:pP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Performance overview across the complete 20-month operating record.</a:t>
            </a:r>
            <a:endParaRPr lang="en-US" sz="1500" dirty="0">
              <a:solidFill>
                <a:srgbClr val="FF3300"/>
              </a:solidFill>
              <a:latin typeface="Segoe UI Semibold" panose="020B0702040204020203" pitchFamily="34" charset="0"/>
              <a:cs typeface="Segoe UI Semibold" panose="020B0702040204020203" pitchFamily="34" charset="0"/>
            </a:endParaRPr>
          </a:p>
        </p:txBody>
      </p:sp>
      <p:sp>
        <p:nvSpPr>
          <p:cNvPr id="5" name="Shape 3"/>
          <p:cNvSpPr/>
          <p:nvPr/>
        </p:nvSpPr>
        <p:spPr>
          <a:xfrm>
            <a:off x="609585" y="2181423"/>
            <a:ext cx="10972526" cy="12601"/>
          </a:xfrm>
          <a:prstGeom prst="roundRect">
            <a:avLst>
              <a:gd name="adj" fmla="val 49998"/>
            </a:avLst>
          </a:prstGeom>
          <a:solidFill>
            <a:schemeClr val="tx1">
              <a:alpha val="24000"/>
            </a:schemeClr>
          </a:solidFill>
          <a:ln/>
        </p:spPr>
      </p:sp>
      <p:sp>
        <p:nvSpPr>
          <p:cNvPr id="6" name="Shape 4"/>
          <p:cNvSpPr/>
          <p:nvPr/>
        </p:nvSpPr>
        <p:spPr>
          <a:xfrm>
            <a:off x="609585" y="2795290"/>
            <a:ext cx="10972526" cy="2674541"/>
          </a:xfrm>
          <a:prstGeom prst="rect">
            <a:avLst/>
          </a:prstGeom>
          <a:solidFill>
            <a:schemeClr val="accent2">
              <a:lumMod val="20000"/>
              <a:lumOff val="80000"/>
            </a:schemeClr>
          </a:solidFill>
          <a:ln/>
        </p:spPr>
      </p:sp>
      <p:sp>
        <p:nvSpPr>
          <p:cNvPr id="7" name="Text 5"/>
          <p:cNvSpPr/>
          <p:nvPr/>
        </p:nvSpPr>
        <p:spPr>
          <a:xfrm>
            <a:off x="965176" y="3474740"/>
            <a:ext cx="2222444" cy="431800"/>
          </a:xfrm>
          <a:prstGeom prst="rect">
            <a:avLst/>
          </a:prstGeom>
          <a:noFill/>
          <a:ln/>
        </p:spPr>
        <p:txBody>
          <a:bodyPr wrap="none" lIns="0" tIns="0" rIns="0" bIns="0" rtlCol="0" anchor="t"/>
          <a:lstStyle/>
          <a:p>
            <a:pPr marL="0" indent="0" algn="l">
              <a:lnSpc>
                <a:spcPct val="83000"/>
              </a:lnSpc>
              <a:buNone/>
            </a:pPr>
            <a:r>
              <a:rPr lang="en-US" sz="3400" kern="100" spc="-34" dirty="0">
                <a:solidFill>
                  <a:srgbClr val="FF3300"/>
                </a:solidFill>
                <a:latin typeface="Segoe UI Semibold" panose="020B0702040204020203" pitchFamily="34" charset="0"/>
                <a:ea typeface="Host Grotesk Light" pitchFamily="34" charset="-122"/>
                <a:cs typeface="Segoe UI Semibold" panose="020B0702040204020203" pitchFamily="34" charset="0"/>
              </a:rPr>
              <a:t>50,000</a:t>
            </a:r>
            <a:endParaRPr lang="en-US" sz="3400" dirty="0">
              <a:solidFill>
                <a:srgbClr val="FF3300"/>
              </a:solidFill>
              <a:latin typeface="Segoe UI Semibold" panose="020B0702040204020203" pitchFamily="34" charset="0"/>
              <a:cs typeface="Segoe UI Semibold" panose="020B0702040204020203" pitchFamily="34" charset="0"/>
            </a:endParaRPr>
          </a:p>
        </p:txBody>
      </p:sp>
      <p:sp>
        <p:nvSpPr>
          <p:cNvPr id="8" name="Text 6"/>
          <p:cNvSpPr/>
          <p:nvPr/>
        </p:nvSpPr>
        <p:spPr>
          <a:xfrm>
            <a:off x="965176" y="4002425"/>
            <a:ext cx="2222444" cy="302220"/>
          </a:xfrm>
          <a:prstGeom prst="rect">
            <a:avLst/>
          </a:prstGeom>
          <a:noFill/>
          <a:ln/>
        </p:spPr>
        <p:txBody>
          <a:bodyPr wrap="none" lIns="0" tIns="0" rIns="0" bIns="0" rtlCol="0" anchor="t"/>
          <a:lstStyle/>
          <a:p>
            <a:pPr marL="0" indent="0" algn="l">
              <a:lnSpc>
                <a:spcPct val="117000"/>
              </a:lnSpc>
              <a:buNone/>
            </a:pPr>
            <a:r>
              <a:rPr lang="en-US" sz="1700" dirty="0">
                <a:solidFill>
                  <a:srgbClr val="FF3300"/>
                </a:solidFill>
                <a:latin typeface="Segoe UI Semibold" panose="020B0702040204020203" pitchFamily="34" charset="0"/>
                <a:ea typeface="Host Grotesk Medium" pitchFamily="34" charset="-122"/>
                <a:cs typeface="Segoe UI Semibold" panose="020B0702040204020203" pitchFamily="34" charset="0"/>
              </a:rPr>
              <a:t>Distinct Orders</a:t>
            </a:r>
            <a:endParaRPr lang="en-US" sz="1700" dirty="0">
              <a:solidFill>
                <a:srgbClr val="FF3300"/>
              </a:solidFill>
              <a:latin typeface="Segoe UI Semibold" panose="020B0702040204020203" pitchFamily="34" charset="0"/>
              <a:cs typeface="Segoe UI Semibold" panose="020B0702040204020203" pitchFamily="34" charset="0"/>
            </a:endParaRPr>
          </a:p>
        </p:txBody>
      </p:sp>
      <p:sp>
        <p:nvSpPr>
          <p:cNvPr id="9" name="Text 7"/>
          <p:cNvSpPr/>
          <p:nvPr/>
        </p:nvSpPr>
        <p:spPr>
          <a:xfrm>
            <a:off x="965176" y="4475460"/>
            <a:ext cx="2222444" cy="511770"/>
          </a:xfrm>
          <a:prstGeom prst="rect">
            <a:avLst/>
          </a:prstGeom>
          <a:noFill/>
          <a:ln/>
        </p:spPr>
        <p:txBody>
          <a:bodyPr wrap="square" lIns="0" tIns="0" rIns="0" bIns="0" rtlCol="0" anchor="t">
            <a:normAutofit/>
          </a:bodyPr>
          <a:lstStyle/>
          <a:p>
            <a:pPr marL="0" indent="0" algn="l">
              <a:lnSpc>
                <a:spcPct val="129000"/>
              </a:lnSpc>
              <a:buNone/>
            </a:pPr>
            <a:r>
              <a:rPr lang="en-US" sz="1300" dirty="0">
                <a:solidFill>
                  <a:srgbClr val="FF3300"/>
                </a:solidFill>
                <a:latin typeface="Segoe UI Semibold" panose="020B0702040204020203" pitchFamily="34" charset="0"/>
                <a:ea typeface="Host Grotesk" pitchFamily="34" charset="-122"/>
                <a:cs typeface="Segoe UI Semibold" panose="020B0702040204020203" pitchFamily="34" charset="0"/>
              </a:rPr>
              <a:t>Recorded between Jan 2025 and Aug 2026</a:t>
            </a:r>
            <a:endParaRPr lang="en-US" sz="1300" dirty="0">
              <a:solidFill>
                <a:srgbClr val="FF3300"/>
              </a:solidFill>
              <a:latin typeface="Segoe UI Semibold" panose="020B0702040204020203" pitchFamily="34" charset="0"/>
              <a:cs typeface="Segoe UI Semibold" panose="020B0702040204020203" pitchFamily="34" charset="0"/>
            </a:endParaRPr>
          </a:p>
        </p:txBody>
      </p:sp>
      <p:sp>
        <p:nvSpPr>
          <p:cNvPr id="10" name="Shape 8"/>
          <p:cNvSpPr/>
          <p:nvPr/>
        </p:nvSpPr>
        <p:spPr>
          <a:xfrm>
            <a:off x="3416215" y="3227090"/>
            <a:ext cx="2679633" cy="25400"/>
          </a:xfrm>
          <a:prstGeom prst="rect">
            <a:avLst/>
          </a:prstGeom>
          <a:solidFill>
            <a:srgbClr val="D87346"/>
          </a:solidFill>
          <a:ln/>
        </p:spPr>
      </p:sp>
      <p:sp>
        <p:nvSpPr>
          <p:cNvPr id="11" name="Text 9"/>
          <p:cNvSpPr/>
          <p:nvPr/>
        </p:nvSpPr>
        <p:spPr>
          <a:xfrm>
            <a:off x="3644809" y="3500140"/>
            <a:ext cx="2222444" cy="431800"/>
          </a:xfrm>
          <a:prstGeom prst="rect">
            <a:avLst/>
          </a:prstGeom>
          <a:noFill/>
          <a:ln/>
        </p:spPr>
        <p:txBody>
          <a:bodyPr wrap="none" lIns="0" tIns="0" rIns="0" bIns="0" rtlCol="0" anchor="t"/>
          <a:lstStyle/>
          <a:p>
            <a:pPr marL="0" indent="0" algn="l">
              <a:lnSpc>
                <a:spcPct val="83000"/>
              </a:lnSpc>
              <a:buNone/>
            </a:pPr>
            <a:r>
              <a:rPr lang="en-US" sz="3400" kern="100" spc="-34" dirty="0">
                <a:solidFill>
                  <a:srgbClr val="FF3300"/>
                </a:solidFill>
                <a:latin typeface="Segoe UI Semibold" panose="020B0702040204020203" pitchFamily="34" charset="0"/>
                <a:ea typeface="Host Grotesk Medium" pitchFamily="34" charset="-122"/>
                <a:cs typeface="Segoe UI Semibold" panose="020B0702040204020203" pitchFamily="34" charset="0"/>
              </a:rPr>
              <a:t>₹26.87M</a:t>
            </a:r>
            <a:endParaRPr lang="en-US" sz="3400" dirty="0">
              <a:solidFill>
                <a:srgbClr val="FF3300"/>
              </a:solidFill>
              <a:latin typeface="Segoe UI Semibold" panose="020B0702040204020203" pitchFamily="34" charset="0"/>
              <a:cs typeface="Segoe UI Semibold" panose="020B0702040204020203" pitchFamily="34" charset="0"/>
            </a:endParaRPr>
          </a:p>
        </p:txBody>
      </p:sp>
      <p:sp>
        <p:nvSpPr>
          <p:cNvPr id="12" name="Text 10"/>
          <p:cNvSpPr/>
          <p:nvPr/>
        </p:nvSpPr>
        <p:spPr>
          <a:xfrm>
            <a:off x="3644809" y="4027825"/>
            <a:ext cx="2222444" cy="302220"/>
          </a:xfrm>
          <a:prstGeom prst="rect">
            <a:avLst/>
          </a:prstGeom>
          <a:noFill/>
          <a:ln/>
        </p:spPr>
        <p:txBody>
          <a:bodyPr wrap="none" lIns="0" tIns="0" rIns="0" bIns="0" rtlCol="0" anchor="t"/>
          <a:lstStyle/>
          <a:p>
            <a:pPr marL="0" indent="0" algn="l">
              <a:lnSpc>
                <a:spcPct val="117000"/>
              </a:lnSpc>
              <a:buNone/>
            </a:pPr>
            <a:r>
              <a:rPr lang="en-US" sz="1700" dirty="0">
                <a:solidFill>
                  <a:srgbClr val="FF3300"/>
                </a:solidFill>
                <a:latin typeface="Segoe UI Semibold" panose="020B0702040204020203" pitchFamily="34" charset="0"/>
                <a:ea typeface="Host Grotesk Medium" pitchFamily="34" charset="-122"/>
                <a:cs typeface="Segoe UI Semibold" panose="020B0702040204020203" pitchFamily="34" charset="0"/>
              </a:rPr>
              <a:t>Recorded Revenue</a:t>
            </a:r>
            <a:endParaRPr lang="en-US" sz="1700" dirty="0">
              <a:solidFill>
                <a:srgbClr val="FF3300"/>
              </a:solidFill>
              <a:latin typeface="Segoe UI Semibold" panose="020B0702040204020203" pitchFamily="34" charset="0"/>
              <a:cs typeface="Segoe UI Semibold" panose="020B0702040204020203" pitchFamily="34" charset="0"/>
            </a:endParaRPr>
          </a:p>
        </p:txBody>
      </p:sp>
      <p:sp>
        <p:nvSpPr>
          <p:cNvPr id="13" name="Text 11"/>
          <p:cNvSpPr/>
          <p:nvPr/>
        </p:nvSpPr>
        <p:spPr>
          <a:xfrm>
            <a:off x="3644809" y="4500860"/>
            <a:ext cx="2222444" cy="511770"/>
          </a:xfrm>
          <a:prstGeom prst="rect">
            <a:avLst/>
          </a:prstGeom>
          <a:noFill/>
          <a:ln/>
        </p:spPr>
        <p:txBody>
          <a:bodyPr wrap="square" lIns="0" tIns="0" rIns="0" bIns="0" rtlCol="0" anchor="t">
            <a:normAutofit/>
          </a:bodyPr>
          <a:lstStyle/>
          <a:p>
            <a:pPr marL="0" indent="0" algn="l">
              <a:lnSpc>
                <a:spcPct val="129000"/>
              </a:lnSpc>
              <a:buNone/>
            </a:pPr>
            <a:r>
              <a:rPr lang="en-US" sz="1300" dirty="0">
                <a:solidFill>
                  <a:srgbClr val="FF3300"/>
                </a:solidFill>
                <a:latin typeface="Segoe UI Semibold" panose="020B0702040204020203" pitchFamily="34" charset="0"/>
                <a:ea typeface="Host Grotesk" pitchFamily="34" charset="-122"/>
                <a:cs typeface="Segoe UI Semibold" panose="020B0702040204020203" pitchFamily="34" charset="0"/>
              </a:rPr>
              <a:t>Aggregated across all logged transactions</a:t>
            </a:r>
            <a:endParaRPr lang="en-US" sz="1300" dirty="0">
              <a:solidFill>
                <a:srgbClr val="FF3300"/>
              </a:solidFill>
              <a:latin typeface="Segoe UI Semibold" panose="020B0702040204020203" pitchFamily="34" charset="0"/>
              <a:cs typeface="Segoe UI Semibold" panose="020B0702040204020203" pitchFamily="34" charset="0"/>
            </a:endParaRPr>
          </a:p>
        </p:txBody>
      </p:sp>
      <p:sp>
        <p:nvSpPr>
          <p:cNvPr id="14" name="Text 12"/>
          <p:cNvSpPr/>
          <p:nvPr/>
        </p:nvSpPr>
        <p:spPr>
          <a:xfrm>
            <a:off x="6324442" y="3474740"/>
            <a:ext cx="2222444" cy="431800"/>
          </a:xfrm>
          <a:prstGeom prst="rect">
            <a:avLst/>
          </a:prstGeom>
          <a:noFill/>
          <a:ln/>
        </p:spPr>
        <p:txBody>
          <a:bodyPr wrap="none" lIns="0" tIns="0" rIns="0" bIns="0" rtlCol="0" anchor="t"/>
          <a:lstStyle/>
          <a:p>
            <a:pPr marL="0" indent="0" algn="l">
              <a:lnSpc>
                <a:spcPct val="83000"/>
              </a:lnSpc>
              <a:buNone/>
            </a:pPr>
            <a:r>
              <a:rPr lang="en-US" sz="3400" kern="100" spc="-34" dirty="0">
                <a:solidFill>
                  <a:srgbClr val="FF3300"/>
                </a:solidFill>
                <a:latin typeface="Segoe UI Semibold" panose="020B0702040204020203" pitchFamily="34" charset="0"/>
                <a:ea typeface="Host Grotesk Light" pitchFamily="34" charset="-122"/>
                <a:cs typeface="Segoe UI Semibold" panose="020B0702040204020203" pitchFamily="34" charset="0"/>
              </a:rPr>
              <a:t>₹525.58</a:t>
            </a:r>
            <a:endParaRPr lang="en-US" sz="3400" dirty="0">
              <a:solidFill>
                <a:srgbClr val="FF3300"/>
              </a:solidFill>
              <a:latin typeface="Segoe UI Semibold" panose="020B0702040204020203" pitchFamily="34" charset="0"/>
              <a:cs typeface="Segoe UI Semibold" panose="020B0702040204020203" pitchFamily="34" charset="0"/>
            </a:endParaRPr>
          </a:p>
        </p:txBody>
      </p:sp>
      <p:sp>
        <p:nvSpPr>
          <p:cNvPr id="15" name="Text 13"/>
          <p:cNvSpPr/>
          <p:nvPr/>
        </p:nvSpPr>
        <p:spPr>
          <a:xfrm>
            <a:off x="6324442" y="4002425"/>
            <a:ext cx="2222444" cy="302220"/>
          </a:xfrm>
          <a:prstGeom prst="rect">
            <a:avLst/>
          </a:prstGeom>
          <a:noFill/>
          <a:ln/>
        </p:spPr>
        <p:txBody>
          <a:bodyPr wrap="none" lIns="0" tIns="0" rIns="0" bIns="0" rtlCol="0" anchor="t"/>
          <a:lstStyle/>
          <a:p>
            <a:pPr marL="0" indent="0" algn="l">
              <a:lnSpc>
                <a:spcPct val="117000"/>
              </a:lnSpc>
              <a:buNone/>
            </a:pPr>
            <a:r>
              <a:rPr lang="en-US" sz="1700" dirty="0">
                <a:solidFill>
                  <a:srgbClr val="FF3300"/>
                </a:solidFill>
                <a:latin typeface="Segoe UI Semibold" panose="020B0702040204020203" pitchFamily="34" charset="0"/>
                <a:ea typeface="Host Grotesk Medium" pitchFamily="34" charset="-122"/>
                <a:cs typeface="Segoe UI Semibold" panose="020B0702040204020203" pitchFamily="34" charset="0"/>
              </a:rPr>
              <a:t>Average Order Value</a:t>
            </a:r>
            <a:endParaRPr lang="en-US" sz="1700" dirty="0">
              <a:solidFill>
                <a:srgbClr val="FF3300"/>
              </a:solidFill>
              <a:latin typeface="Segoe UI Semibold" panose="020B0702040204020203" pitchFamily="34" charset="0"/>
              <a:cs typeface="Segoe UI Semibold" panose="020B0702040204020203" pitchFamily="34" charset="0"/>
            </a:endParaRPr>
          </a:p>
        </p:txBody>
      </p:sp>
      <p:sp>
        <p:nvSpPr>
          <p:cNvPr id="16" name="Text 14"/>
          <p:cNvSpPr/>
          <p:nvPr/>
        </p:nvSpPr>
        <p:spPr>
          <a:xfrm>
            <a:off x="6324442" y="4475460"/>
            <a:ext cx="2222444" cy="511770"/>
          </a:xfrm>
          <a:prstGeom prst="rect">
            <a:avLst/>
          </a:prstGeom>
          <a:noFill/>
          <a:ln/>
        </p:spPr>
        <p:txBody>
          <a:bodyPr wrap="square" lIns="0" tIns="0" rIns="0" bIns="0" rtlCol="0" anchor="t">
            <a:normAutofit/>
          </a:bodyPr>
          <a:lstStyle/>
          <a:p>
            <a:pPr marL="0" indent="0" algn="l">
              <a:lnSpc>
                <a:spcPct val="129000"/>
              </a:lnSpc>
              <a:buNone/>
            </a:pPr>
            <a:r>
              <a:rPr lang="en-US" sz="1300" dirty="0">
                <a:solidFill>
                  <a:srgbClr val="FF3300"/>
                </a:solidFill>
                <a:latin typeface="Segoe UI Semibold" panose="020B0702040204020203" pitchFamily="34" charset="0"/>
                <a:ea typeface="Host Grotesk" pitchFamily="34" charset="-122"/>
                <a:cs typeface="Segoe UI Semibold" panose="020B0702040204020203" pitchFamily="34" charset="0"/>
              </a:rPr>
              <a:t>Average basket size across all records</a:t>
            </a:r>
            <a:endParaRPr lang="en-US" sz="1300" dirty="0">
              <a:solidFill>
                <a:srgbClr val="FF3300"/>
              </a:solidFill>
              <a:latin typeface="Segoe UI Semibold" panose="020B0702040204020203" pitchFamily="34" charset="0"/>
              <a:cs typeface="Segoe UI Semibold" panose="020B0702040204020203" pitchFamily="34" charset="0"/>
            </a:endParaRPr>
          </a:p>
        </p:txBody>
      </p:sp>
      <p:sp>
        <p:nvSpPr>
          <p:cNvPr id="17" name="Text 15"/>
          <p:cNvSpPr/>
          <p:nvPr/>
        </p:nvSpPr>
        <p:spPr>
          <a:xfrm>
            <a:off x="9004075" y="3474740"/>
            <a:ext cx="2222444" cy="431800"/>
          </a:xfrm>
          <a:prstGeom prst="rect">
            <a:avLst/>
          </a:prstGeom>
          <a:noFill/>
          <a:ln/>
        </p:spPr>
        <p:txBody>
          <a:bodyPr wrap="none" lIns="0" tIns="0" rIns="0" bIns="0" rtlCol="0" anchor="t"/>
          <a:lstStyle/>
          <a:p>
            <a:pPr marL="0" indent="0" algn="l">
              <a:lnSpc>
                <a:spcPct val="83000"/>
              </a:lnSpc>
              <a:buNone/>
            </a:pPr>
            <a:r>
              <a:rPr lang="en-US" sz="3400" kern="100" spc="-34" dirty="0">
                <a:solidFill>
                  <a:srgbClr val="FF3300"/>
                </a:solidFill>
                <a:latin typeface="Segoe UI Semibold" panose="020B0702040204020203" pitchFamily="34" charset="0"/>
                <a:ea typeface="Host Grotesk Light" pitchFamily="34" charset="-122"/>
                <a:cs typeface="Segoe UI Semibold" panose="020B0702040204020203" pitchFamily="34" charset="0"/>
              </a:rPr>
              <a:t>4.11 / 5</a:t>
            </a:r>
            <a:endParaRPr lang="en-US" sz="3400" dirty="0">
              <a:solidFill>
                <a:srgbClr val="FF3300"/>
              </a:solidFill>
              <a:latin typeface="Segoe UI Semibold" panose="020B0702040204020203" pitchFamily="34" charset="0"/>
              <a:cs typeface="Segoe UI Semibold" panose="020B0702040204020203" pitchFamily="34" charset="0"/>
            </a:endParaRPr>
          </a:p>
        </p:txBody>
      </p:sp>
      <p:sp>
        <p:nvSpPr>
          <p:cNvPr id="18" name="Text 16"/>
          <p:cNvSpPr/>
          <p:nvPr/>
        </p:nvSpPr>
        <p:spPr>
          <a:xfrm>
            <a:off x="9004075" y="4002425"/>
            <a:ext cx="2222444" cy="302220"/>
          </a:xfrm>
          <a:prstGeom prst="rect">
            <a:avLst/>
          </a:prstGeom>
          <a:noFill/>
          <a:ln/>
        </p:spPr>
        <p:txBody>
          <a:bodyPr wrap="none" lIns="0" tIns="0" rIns="0" bIns="0" rtlCol="0" anchor="t"/>
          <a:lstStyle/>
          <a:p>
            <a:pPr marL="0" indent="0" algn="l">
              <a:lnSpc>
                <a:spcPct val="117000"/>
              </a:lnSpc>
              <a:buNone/>
            </a:pPr>
            <a:r>
              <a:rPr lang="en-US" sz="1700" dirty="0">
                <a:solidFill>
                  <a:srgbClr val="FF3300"/>
                </a:solidFill>
                <a:latin typeface="Segoe UI Semibold" panose="020B0702040204020203" pitchFamily="34" charset="0"/>
                <a:ea typeface="Host Grotesk Medium" pitchFamily="34" charset="-122"/>
                <a:cs typeface="Segoe UI Semibold" panose="020B0702040204020203" pitchFamily="34" charset="0"/>
              </a:rPr>
              <a:t>Average Rating</a:t>
            </a:r>
            <a:endParaRPr lang="en-US" sz="1700" dirty="0">
              <a:solidFill>
                <a:srgbClr val="FF3300"/>
              </a:solidFill>
              <a:latin typeface="Segoe UI Semibold" panose="020B0702040204020203" pitchFamily="34" charset="0"/>
              <a:cs typeface="Segoe UI Semibold" panose="020B0702040204020203" pitchFamily="34" charset="0"/>
            </a:endParaRPr>
          </a:p>
        </p:txBody>
      </p:sp>
      <p:sp>
        <p:nvSpPr>
          <p:cNvPr id="19" name="Text 17"/>
          <p:cNvSpPr/>
          <p:nvPr/>
        </p:nvSpPr>
        <p:spPr>
          <a:xfrm>
            <a:off x="9004075" y="4475460"/>
            <a:ext cx="2222444" cy="511770"/>
          </a:xfrm>
          <a:prstGeom prst="rect">
            <a:avLst/>
          </a:prstGeom>
          <a:noFill/>
          <a:ln/>
        </p:spPr>
        <p:txBody>
          <a:bodyPr wrap="square" lIns="0" tIns="0" rIns="0" bIns="0" rtlCol="0" anchor="t">
            <a:normAutofit/>
          </a:bodyPr>
          <a:lstStyle/>
          <a:p>
            <a:pPr marL="0" indent="0" algn="l">
              <a:lnSpc>
                <a:spcPct val="129000"/>
              </a:lnSpc>
              <a:buNone/>
            </a:pPr>
            <a:r>
              <a:rPr lang="en-US" sz="1300" dirty="0">
                <a:solidFill>
                  <a:srgbClr val="FF3300"/>
                </a:solidFill>
                <a:latin typeface="Segoe UI Semibold" panose="020B0702040204020203" pitchFamily="34" charset="0"/>
                <a:ea typeface="Host Grotesk" pitchFamily="34" charset="-122"/>
                <a:cs typeface="Segoe UI Semibold" panose="020B0702040204020203" pitchFamily="34" charset="0"/>
              </a:rPr>
              <a:t>Calculated from rated orders only</a:t>
            </a:r>
            <a:endParaRPr lang="en-US" sz="1300" dirty="0">
              <a:solidFill>
                <a:srgbClr val="FF3300"/>
              </a:solidFill>
              <a:latin typeface="Segoe UI Semibold" panose="020B0702040204020203" pitchFamily="34" charset="0"/>
              <a:cs typeface="Segoe UI Semibold" panose="020B0702040204020203" pitchFamily="34" charset="0"/>
            </a:endParaRPr>
          </a:p>
        </p:txBody>
      </p:sp>
      <p:sp>
        <p:nvSpPr>
          <p:cNvPr id="20" name="Text 18"/>
          <p:cNvSpPr/>
          <p:nvPr/>
        </p:nvSpPr>
        <p:spPr>
          <a:xfrm>
            <a:off x="609585" y="6024959"/>
            <a:ext cx="11582110" cy="223441"/>
          </a:xfrm>
          <a:prstGeom prst="rect">
            <a:avLst/>
          </a:prstGeom>
          <a:noFill/>
          <a:ln/>
        </p:spPr>
        <p:txBody>
          <a:bodyPr wrap="none" lIns="0" tIns="0" rIns="0" bIns="0" rtlCol="0" anchor="t"/>
          <a:lstStyle/>
          <a:p>
            <a:pPr marL="0" indent="0" algn="l">
              <a:lnSpc>
                <a:spcPct val="133000"/>
              </a:lnSpc>
              <a:buNone/>
            </a:pPr>
            <a:r>
              <a:rPr lang="en-US" sz="1100" kern="100" spc="22" dirty="0">
                <a:solidFill>
                  <a:srgbClr val="FF3300"/>
                </a:solidFill>
                <a:latin typeface="Segoe UI Semibold" panose="020B0702040204020203" pitchFamily="34" charset="0"/>
                <a:ea typeface="Host Grotesk" pitchFamily="34" charset="-122"/>
                <a:cs typeface="Segoe UI Semibold" panose="020B0702040204020203" pitchFamily="34" charset="0"/>
              </a:rPr>
              <a:t>Jan 2025 – Aug 2026 dataset · Ratings average excludes 3,487 unrated or cancelled rows</a:t>
            </a:r>
            <a:endParaRPr lang="en-US" sz="1100" dirty="0">
              <a:solidFill>
                <a:srgbClr val="FF3300"/>
              </a:solidFill>
              <a:latin typeface="Segoe UI Semibold" panose="020B0702040204020203" pitchFamily="34" charset="0"/>
              <a:cs typeface="Segoe UI Semibold" panose="020B0702040204020203" pitchFamily="34" charset="0"/>
            </a:endParaRPr>
          </a:p>
        </p:txBody>
      </p:sp>
      <p:sp>
        <p:nvSpPr>
          <p:cNvPr id="21" name="Shape 19"/>
          <p:cNvSpPr/>
          <p:nvPr/>
        </p:nvSpPr>
        <p:spPr>
          <a:xfrm>
            <a:off x="3409865" y="3227090"/>
            <a:ext cx="12700" cy="1963341"/>
          </a:xfrm>
          <a:prstGeom prst="rect">
            <a:avLst/>
          </a:prstGeom>
          <a:solidFill>
            <a:srgbClr val="7D817E"/>
          </a:solidFill>
          <a:ln/>
        </p:spPr>
      </p:sp>
      <p:sp>
        <p:nvSpPr>
          <p:cNvPr id="22" name="Shape 20"/>
          <p:cNvSpPr/>
          <p:nvPr/>
        </p:nvSpPr>
        <p:spPr>
          <a:xfrm>
            <a:off x="6089498" y="3227090"/>
            <a:ext cx="12700" cy="1963341"/>
          </a:xfrm>
          <a:prstGeom prst="rect">
            <a:avLst/>
          </a:prstGeom>
          <a:solidFill>
            <a:srgbClr val="7D817E"/>
          </a:solidFill>
          <a:ln/>
        </p:spPr>
      </p:sp>
      <p:sp>
        <p:nvSpPr>
          <p:cNvPr id="23" name="Shape 21"/>
          <p:cNvSpPr/>
          <p:nvPr/>
        </p:nvSpPr>
        <p:spPr>
          <a:xfrm>
            <a:off x="8769131" y="3227090"/>
            <a:ext cx="12700" cy="1963341"/>
          </a:xfrm>
          <a:prstGeom prst="rect">
            <a:avLst/>
          </a:prstGeom>
          <a:solidFill>
            <a:srgbClr val="7D817E"/>
          </a:solidFill>
          <a:ln/>
        </p:spPr>
      </p:sp>
      <p:sp>
        <p:nvSpPr>
          <p:cNvPr id="27" name="Rectangle: Rounded Corners 26">
            <a:extLst>
              <a:ext uri="{FF2B5EF4-FFF2-40B4-BE49-F238E27FC236}">
                <a16:creationId xmlns:a16="http://schemas.microsoft.com/office/drawing/2014/main" id="{365746E5-45BF-6A84-BF64-42284404FD2D}"/>
              </a:ext>
            </a:extLst>
          </p:cNvPr>
          <p:cNvSpPr/>
          <p:nvPr/>
        </p:nvSpPr>
        <p:spPr>
          <a:xfrm>
            <a:off x="11044213" y="6517341"/>
            <a:ext cx="1147482" cy="34065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rgbClr val="FF3300"/>
                </a:solidFill>
                <a:latin typeface="Arial Black" panose="020B0A04020102020204" pitchFamily="34" charset="0"/>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609585" y="636270"/>
            <a:ext cx="10972526" cy="853281"/>
          </a:xfrm>
          <a:prstGeom prst="rect">
            <a:avLst/>
          </a:prstGeom>
          <a:noFill/>
          <a:ln/>
        </p:spPr>
        <p:txBody>
          <a:bodyPr wrap="square" lIns="0" tIns="0" rIns="0" bIns="0" rtlCol="0" anchor="t">
            <a:normAutofit/>
          </a:bodyPr>
          <a:lstStyle/>
          <a:p>
            <a:pPr marL="0" indent="0" algn="l">
              <a:lnSpc>
                <a:spcPct val="93000"/>
              </a:lnSpc>
              <a:buNone/>
            </a:pPr>
            <a:r>
              <a:rPr lang="en-US" sz="3000" kern="100" spc="-15" dirty="0">
                <a:solidFill>
                  <a:srgbClr val="FF3300"/>
                </a:solidFill>
                <a:latin typeface="Segoe UI Semibold" panose="020B0702040204020203" pitchFamily="34" charset="0"/>
                <a:ea typeface="Host Grotesk Light" pitchFamily="34" charset="-122"/>
                <a:cs typeface="Segoe UI Semibold" panose="020B0702040204020203" pitchFamily="34" charset="0"/>
              </a:rPr>
              <a:t>88% of orders were delivered, so the revenue figure needs a definition</a:t>
            </a:r>
            <a:endParaRPr lang="en-US" sz="3000" dirty="0">
              <a:solidFill>
                <a:srgbClr val="FF3300"/>
              </a:solidFill>
              <a:latin typeface="Segoe UI Semibold" panose="020B0702040204020203" pitchFamily="34" charset="0"/>
              <a:cs typeface="Segoe UI Semibold" panose="020B0702040204020203" pitchFamily="34" charset="0"/>
            </a:endParaRPr>
          </a:p>
        </p:txBody>
      </p:sp>
      <p:sp>
        <p:nvSpPr>
          <p:cNvPr id="3" name="Shape 1"/>
          <p:cNvSpPr/>
          <p:nvPr/>
        </p:nvSpPr>
        <p:spPr>
          <a:xfrm>
            <a:off x="609585" y="1747044"/>
            <a:ext cx="10972526" cy="12601"/>
          </a:xfrm>
          <a:prstGeom prst="roundRect">
            <a:avLst>
              <a:gd name="adj" fmla="val 49998"/>
            </a:avLst>
          </a:prstGeom>
          <a:solidFill>
            <a:srgbClr val="E7E3DA">
              <a:alpha val="24000"/>
            </a:srgbClr>
          </a:solidFill>
          <a:ln/>
        </p:spPr>
      </p:sp>
      <p:sp>
        <p:nvSpPr>
          <p:cNvPr id="4" name="Shape 2"/>
          <p:cNvSpPr/>
          <p:nvPr/>
        </p:nvSpPr>
        <p:spPr>
          <a:xfrm>
            <a:off x="609585" y="2021681"/>
            <a:ext cx="5333867" cy="2026245"/>
          </a:xfrm>
          <a:prstGeom prst="rect">
            <a:avLst/>
          </a:prstGeom>
          <a:solidFill>
            <a:schemeClr val="accent2">
              <a:lumMod val="20000"/>
              <a:lumOff val="80000"/>
            </a:schemeClr>
          </a:solidFill>
          <a:ln/>
        </p:spPr>
      </p:sp>
      <p:sp>
        <p:nvSpPr>
          <p:cNvPr id="5" name="Text 3"/>
          <p:cNvSpPr/>
          <p:nvPr/>
        </p:nvSpPr>
        <p:spPr>
          <a:xfrm>
            <a:off x="838179" y="2252504"/>
            <a:ext cx="4876678" cy="391120"/>
          </a:xfrm>
          <a:prstGeom prst="rect">
            <a:avLst/>
          </a:prstGeom>
          <a:noFill/>
          <a:ln/>
        </p:spPr>
        <p:txBody>
          <a:bodyPr wrap="none" lIns="0" tIns="0" rIns="0" bIns="0" rtlCol="0" anchor="t"/>
          <a:lstStyle/>
          <a:p>
            <a:pPr marL="0" indent="0" algn="l">
              <a:lnSpc>
                <a:spcPct val="117000"/>
              </a:lnSpc>
              <a:buNone/>
            </a:pPr>
            <a:r>
              <a:rPr lang="en-US" sz="2200" dirty="0">
                <a:solidFill>
                  <a:srgbClr val="FF3300"/>
                </a:solidFill>
                <a:latin typeface="Segoe UI Semibold" panose="020B0702040204020203" pitchFamily="34" charset="0"/>
                <a:ea typeface="Host Grotesk Medium" pitchFamily="34" charset="-122"/>
                <a:cs typeface="Segoe UI Semibold" panose="020B0702040204020203" pitchFamily="34" charset="0"/>
              </a:rPr>
              <a:t>Order status</a:t>
            </a:r>
            <a:endParaRPr lang="en-US" sz="2200" dirty="0">
              <a:solidFill>
                <a:srgbClr val="FF3300"/>
              </a:solidFill>
              <a:latin typeface="Segoe UI Semibold" panose="020B0702040204020203" pitchFamily="34" charset="0"/>
              <a:cs typeface="Segoe UI Semibold" panose="020B0702040204020203" pitchFamily="34" charset="0"/>
            </a:endParaRPr>
          </a:p>
        </p:txBody>
      </p:sp>
      <p:sp>
        <p:nvSpPr>
          <p:cNvPr id="6" name="Text 4"/>
          <p:cNvSpPr/>
          <p:nvPr/>
        </p:nvSpPr>
        <p:spPr>
          <a:xfrm>
            <a:off x="838179" y="2812852"/>
            <a:ext cx="4876678" cy="1006475"/>
          </a:xfrm>
          <a:prstGeom prst="rect">
            <a:avLst/>
          </a:prstGeom>
          <a:noFill/>
          <a:ln/>
        </p:spPr>
        <p:txBody>
          <a:bodyPr wrap="square" lIns="0" tIns="0" rIns="0" bIns="0" rtlCol="0" anchor="t">
            <a:normAutofit/>
          </a:bodyPr>
          <a:lstStyle/>
          <a:p>
            <a:pPr marL="304800" indent="-304800" algn="l">
              <a:lnSpc>
                <a:spcPct val="129000"/>
              </a:lnSpc>
              <a:buSzPct val="100000"/>
              <a:buChar char="•"/>
            </a:pPr>
            <a:r>
              <a:rPr lang="en-US" sz="1500" b="1" dirty="0">
                <a:solidFill>
                  <a:srgbClr val="FF3300"/>
                </a:solidFill>
                <a:latin typeface="Segoe UI Semibold" panose="020B0702040204020203" pitchFamily="34" charset="0"/>
                <a:ea typeface="Host Grotesk Bold" pitchFamily="34" charset="-122"/>
                <a:cs typeface="Segoe UI Semibold" panose="020B0702040204020203" pitchFamily="34" charset="0"/>
              </a:rPr>
              <a:t>Delivered:</a:t>
            </a: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 43,953 orders (87.91%)</a:t>
            </a:r>
            <a:endParaRPr lang="en-US" sz="1500" dirty="0">
              <a:solidFill>
                <a:srgbClr val="FF3300"/>
              </a:solidFill>
              <a:latin typeface="Segoe UI Semibold" panose="020B0702040204020203" pitchFamily="34" charset="0"/>
              <a:cs typeface="Segoe UI Semibold" panose="020B0702040204020203" pitchFamily="34" charset="0"/>
            </a:endParaRPr>
          </a:p>
          <a:p>
            <a:pPr marL="304800" indent="-304800" algn="l">
              <a:lnSpc>
                <a:spcPct val="129000"/>
              </a:lnSpc>
              <a:buSzPct val="100000"/>
              <a:buChar char="•"/>
            </a:pPr>
            <a:r>
              <a:rPr lang="en-US" sz="1500" b="1" dirty="0">
                <a:solidFill>
                  <a:srgbClr val="FF3300"/>
                </a:solidFill>
                <a:latin typeface="Segoe UI Semibold" panose="020B0702040204020203" pitchFamily="34" charset="0"/>
                <a:ea typeface="Host Grotesk Bold" pitchFamily="34" charset="-122"/>
                <a:cs typeface="Segoe UI Semibold" panose="020B0702040204020203" pitchFamily="34" charset="0"/>
              </a:rPr>
              <a:t>Cancelled:</a:t>
            </a: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 3,487 orders (6.97%)</a:t>
            </a:r>
            <a:endParaRPr lang="en-US" sz="1500" dirty="0">
              <a:solidFill>
                <a:srgbClr val="FF3300"/>
              </a:solidFill>
              <a:latin typeface="Segoe UI Semibold" panose="020B0702040204020203" pitchFamily="34" charset="0"/>
              <a:cs typeface="Segoe UI Semibold" panose="020B0702040204020203" pitchFamily="34" charset="0"/>
            </a:endParaRPr>
          </a:p>
          <a:p>
            <a:pPr marL="304800" indent="-304800" algn="l">
              <a:lnSpc>
                <a:spcPct val="129000"/>
              </a:lnSpc>
              <a:buSzPct val="100000"/>
              <a:buChar char="•"/>
            </a:pPr>
            <a:r>
              <a:rPr lang="en-US" sz="1500" b="1" dirty="0">
                <a:solidFill>
                  <a:srgbClr val="FF3300"/>
                </a:solidFill>
                <a:latin typeface="Segoe UI Semibold" panose="020B0702040204020203" pitchFamily="34" charset="0"/>
                <a:ea typeface="Host Grotesk Bold" pitchFamily="34" charset="-122"/>
                <a:cs typeface="Segoe UI Semibold" panose="020B0702040204020203" pitchFamily="34" charset="0"/>
              </a:rPr>
              <a:t>Delayed:</a:t>
            </a: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 2,560 orders (5.12%)</a:t>
            </a:r>
            <a:endParaRPr lang="en-US" sz="1500" dirty="0">
              <a:solidFill>
                <a:srgbClr val="FF3300"/>
              </a:solidFill>
              <a:latin typeface="Segoe UI Semibold" panose="020B0702040204020203" pitchFamily="34" charset="0"/>
              <a:cs typeface="Segoe UI Semibold" panose="020B0702040204020203" pitchFamily="34" charset="0"/>
            </a:endParaRPr>
          </a:p>
        </p:txBody>
      </p:sp>
      <p:sp>
        <p:nvSpPr>
          <p:cNvPr id="7" name="Shape 5"/>
          <p:cNvSpPr/>
          <p:nvPr/>
        </p:nvSpPr>
        <p:spPr>
          <a:xfrm>
            <a:off x="6248244" y="2021681"/>
            <a:ext cx="5333867" cy="2026245"/>
          </a:xfrm>
          <a:prstGeom prst="rect">
            <a:avLst/>
          </a:prstGeom>
          <a:solidFill>
            <a:schemeClr val="accent2">
              <a:lumMod val="20000"/>
              <a:lumOff val="80000"/>
            </a:schemeClr>
          </a:solidFill>
          <a:ln/>
        </p:spPr>
      </p:sp>
      <p:sp>
        <p:nvSpPr>
          <p:cNvPr id="8" name="Text 6"/>
          <p:cNvSpPr/>
          <p:nvPr/>
        </p:nvSpPr>
        <p:spPr>
          <a:xfrm>
            <a:off x="6476838" y="2252504"/>
            <a:ext cx="4876678" cy="391120"/>
          </a:xfrm>
          <a:prstGeom prst="rect">
            <a:avLst/>
          </a:prstGeom>
          <a:noFill/>
          <a:ln/>
        </p:spPr>
        <p:txBody>
          <a:bodyPr wrap="none" lIns="0" tIns="0" rIns="0" bIns="0" rtlCol="0" anchor="t"/>
          <a:lstStyle/>
          <a:p>
            <a:pPr marL="0" indent="0" algn="l">
              <a:lnSpc>
                <a:spcPct val="117000"/>
              </a:lnSpc>
              <a:buNone/>
            </a:pPr>
            <a:r>
              <a:rPr lang="en-US" sz="2200" dirty="0">
                <a:solidFill>
                  <a:srgbClr val="FF3300"/>
                </a:solidFill>
                <a:latin typeface="Segoe UI Semibold" panose="020B0702040204020203" pitchFamily="34" charset="0"/>
                <a:ea typeface="Host Grotesk Medium" pitchFamily="34" charset="-122"/>
                <a:cs typeface="Segoe UI Semibold" panose="020B0702040204020203" pitchFamily="34" charset="0"/>
              </a:rPr>
              <a:t>Revenue definition</a:t>
            </a:r>
            <a:endParaRPr lang="en-US" sz="2200" dirty="0">
              <a:solidFill>
                <a:srgbClr val="FF3300"/>
              </a:solidFill>
              <a:latin typeface="Segoe UI Semibold" panose="020B0702040204020203" pitchFamily="34" charset="0"/>
              <a:cs typeface="Segoe UI Semibold" panose="020B0702040204020203" pitchFamily="34" charset="0"/>
            </a:endParaRPr>
          </a:p>
        </p:txBody>
      </p:sp>
      <p:sp>
        <p:nvSpPr>
          <p:cNvPr id="9" name="Text 7"/>
          <p:cNvSpPr/>
          <p:nvPr/>
        </p:nvSpPr>
        <p:spPr>
          <a:xfrm>
            <a:off x="6476838" y="2812852"/>
            <a:ext cx="4876678" cy="590550"/>
          </a:xfrm>
          <a:prstGeom prst="rect">
            <a:avLst/>
          </a:prstGeom>
          <a:noFill/>
          <a:ln/>
        </p:spPr>
        <p:txBody>
          <a:bodyPr wrap="square" lIns="0" tIns="0" rIns="0" bIns="0" rtlCol="0" anchor="t">
            <a:normAutofit/>
          </a:bodyPr>
          <a:lstStyle/>
          <a:p>
            <a:pPr marL="0" indent="0" algn="l">
              <a:lnSpc>
                <a:spcPct val="129000"/>
              </a:lnSpc>
              <a:buNone/>
            </a:pPr>
            <a:r>
              <a:rPr lang="en-US" sz="1500" b="1" dirty="0">
                <a:solidFill>
                  <a:srgbClr val="FF3300"/>
                </a:solidFill>
                <a:latin typeface="Segoe UI Semibold" panose="020B0702040204020203" pitchFamily="34" charset="0"/>
                <a:ea typeface="Host Grotesk Bold" pitchFamily="34" charset="-122"/>
                <a:cs typeface="Segoe UI Semibold" panose="020B0702040204020203" pitchFamily="34" charset="0"/>
              </a:rPr>
              <a:t>Delivered-only revenue:</a:t>
            </a: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 ₹23.59M, versus ₹26.87M recorded across all statuses</a:t>
            </a:r>
            <a:endParaRPr lang="en-US" sz="1500" dirty="0">
              <a:solidFill>
                <a:srgbClr val="FF3300"/>
              </a:solidFill>
              <a:latin typeface="Segoe UI Semibold" panose="020B0702040204020203" pitchFamily="34" charset="0"/>
              <a:cs typeface="Segoe UI Semibold" panose="020B0702040204020203" pitchFamily="34" charset="0"/>
            </a:endParaRPr>
          </a:p>
        </p:txBody>
      </p:sp>
      <p:cxnSp>
        <p:nvCxnSpPr>
          <p:cNvPr id="11" name="Straight Connector 10">
            <a:extLst>
              <a:ext uri="{FF2B5EF4-FFF2-40B4-BE49-F238E27FC236}">
                <a16:creationId xmlns:a16="http://schemas.microsoft.com/office/drawing/2014/main" id="{94E0A58B-CCDB-419A-76C2-132FEE9D981D}"/>
              </a:ext>
            </a:extLst>
          </p:cNvPr>
          <p:cNvCxnSpPr>
            <a:cxnSpLocks/>
          </p:cNvCxnSpPr>
          <p:nvPr/>
        </p:nvCxnSpPr>
        <p:spPr>
          <a:xfrm>
            <a:off x="680936" y="1517515"/>
            <a:ext cx="11146635" cy="0"/>
          </a:xfrm>
          <a:prstGeom prst="line">
            <a:avLst/>
          </a:prstGeom>
        </p:spPr>
        <p:style>
          <a:lnRef idx="2">
            <a:schemeClr val="accent2"/>
          </a:lnRef>
          <a:fillRef idx="0">
            <a:schemeClr val="accent2"/>
          </a:fillRef>
          <a:effectRef idx="1">
            <a:schemeClr val="accent2"/>
          </a:effectRef>
          <a:fontRef idx="minor">
            <a:schemeClr val="tx1"/>
          </a:fontRef>
        </p:style>
      </p:cxnSp>
      <p:sp>
        <p:nvSpPr>
          <p:cNvPr id="13" name="Rectangle: Rounded Corners 12">
            <a:extLst>
              <a:ext uri="{FF2B5EF4-FFF2-40B4-BE49-F238E27FC236}">
                <a16:creationId xmlns:a16="http://schemas.microsoft.com/office/drawing/2014/main" id="{D806DF80-321C-E442-3330-B0D06DCA7FBD}"/>
              </a:ext>
            </a:extLst>
          </p:cNvPr>
          <p:cNvSpPr/>
          <p:nvPr/>
        </p:nvSpPr>
        <p:spPr>
          <a:xfrm>
            <a:off x="11044518" y="6517341"/>
            <a:ext cx="1147482" cy="34065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rgbClr val="FF3300"/>
                </a:solidFill>
                <a:latin typeface="Arial Black" panose="020B0A04020102020204" pitchFamily="34" charset="0"/>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FF3300"/>
                </a:solidFill>
                <a:latin typeface="Segoe UI Semibold" panose="020B0702040204020203" pitchFamily="34" charset="0"/>
                <a:ea typeface="Host Grotesk Medium" pitchFamily="34" charset="-122"/>
                <a:cs typeface="Segoe UI Semibold" panose="020B0702040204020203" pitchFamily="34" charset="0"/>
              </a:rPr>
              <a:t>TREND ANALYSIS</a:t>
            </a:r>
            <a:endParaRPr lang="en-US" sz="1100" dirty="0">
              <a:solidFill>
                <a:srgbClr val="FF3300"/>
              </a:solidFill>
              <a:latin typeface="Segoe UI Semibold" panose="020B0702040204020203" pitchFamily="34" charset="0"/>
              <a:cs typeface="Segoe UI Semibold" panose="020B0702040204020203" pitchFamily="34" charset="0"/>
            </a:endParaRPr>
          </a:p>
        </p:txBody>
      </p:sp>
      <p:sp>
        <p:nvSpPr>
          <p:cNvPr id="3" name="Text 1"/>
          <p:cNvSpPr/>
          <p:nvPr/>
        </p:nvSpPr>
        <p:spPr>
          <a:xfrm>
            <a:off x="609585" y="986115"/>
            <a:ext cx="10972526" cy="426641"/>
          </a:xfrm>
          <a:prstGeom prst="rect">
            <a:avLst/>
          </a:prstGeom>
          <a:noFill/>
          <a:ln/>
        </p:spPr>
        <p:txBody>
          <a:bodyPr wrap="none" lIns="0" tIns="0" rIns="0" bIns="0" rtlCol="0" anchor="t"/>
          <a:lstStyle/>
          <a:p>
            <a:pPr marL="0" indent="0" algn="l">
              <a:lnSpc>
                <a:spcPct val="93000"/>
              </a:lnSpc>
              <a:buNone/>
            </a:pPr>
            <a:r>
              <a:rPr lang="en-US" sz="3000" kern="100" spc="-15" dirty="0">
                <a:solidFill>
                  <a:srgbClr val="FF3300"/>
                </a:solidFill>
                <a:latin typeface="Host Grotesk Light" pitchFamily="34" charset="0"/>
                <a:ea typeface="Host Grotesk Light" pitchFamily="34" charset="-122"/>
                <a:cs typeface="Host Grotesk Light" pitchFamily="34" charset="-120"/>
              </a:rPr>
              <a:t>Monthly revenue held between ₹1.2M and ₹1.4M</a:t>
            </a:r>
            <a:endParaRPr lang="en-US" sz="3000" dirty="0">
              <a:solidFill>
                <a:srgbClr val="FF3300"/>
              </a:solidFill>
            </a:endParaRPr>
          </a:p>
        </p:txBody>
      </p:sp>
      <p:sp>
        <p:nvSpPr>
          <p:cNvPr id="6" name="Shape 3"/>
          <p:cNvSpPr/>
          <p:nvPr/>
        </p:nvSpPr>
        <p:spPr>
          <a:xfrm>
            <a:off x="8076998" y="2244527"/>
            <a:ext cx="3505112" cy="3281362"/>
          </a:xfrm>
          <a:prstGeom prst="rect">
            <a:avLst/>
          </a:prstGeom>
          <a:solidFill>
            <a:schemeClr val="accent2">
              <a:lumMod val="20000"/>
              <a:lumOff val="80000"/>
            </a:schemeClr>
          </a:solidFill>
          <a:ln/>
        </p:spPr>
      </p:sp>
      <p:sp>
        <p:nvSpPr>
          <p:cNvPr id="7" name="Text 4"/>
          <p:cNvSpPr/>
          <p:nvPr/>
        </p:nvSpPr>
        <p:spPr>
          <a:xfrm>
            <a:off x="8330992" y="2498527"/>
            <a:ext cx="3251119"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FF3300"/>
                </a:solidFill>
                <a:latin typeface="Segoe UI Semibold" panose="020B0702040204020203" pitchFamily="34" charset="0"/>
                <a:ea typeface="Host Grotesk Medium" pitchFamily="34" charset="-122"/>
                <a:cs typeface="Segoe UI Semibold" panose="020B0702040204020203" pitchFamily="34" charset="0"/>
              </a:rPr>
              <a:t>PERFORMANCE RANGE</a:t>
            </a:r>
            <a:endParaRPr lang="en-US" sz="1100" dirty="0">
              <a:solidFill>
                <a:srgbClr val="FF3300"/>
              </a:solidFill>
              <a:latin typeface="Segoe UI Semibold" panose="020B0702040204020203" pitchFamily="34" charset="0"/>
              <a:cs typeface="Segoe UI Semibold" panose="020B0702040204020203" pitchFamily="34" charset="0"/>
            </a:endParaRPr>
          </a:p>
        </p:txBody>
      </p:sp>
      <p:sp>
        <p:nvSpPr>
          <p:cNvPr id="8" name="Text 5"/>
          <p:cNvSpPr/>
          <p:nvPr/>
        </p:nvSpPr>
        <p:spPr>
          <a:xfrm>
            <a:off x="8330992" y="2849007"/>
            <a:ext cx="2997125" cy="302220"/>
          </a:xfrm>
          <a:prstGeom prst="rect">
            <a:avLst/>
          </a:prstGeom>
          <a:noFill/>
          <a:ln/>
        </p:spPr>
        <p:txBody>
          <a:bodyPr wrap="none" lIns="0" tIns="0" rIns="0" bIns="0" rtlCol="0" anchor="t"/>
          <a:lstStyle/>
          <a:p>
            <a:pPr marL="0" indent="0" algn="l">
              <a:lnSpc>
                <a:spcPct val="117000"/>
              </a:lnSpc>
              <a:buNone/>
            </a:pPr>
            <a:r>
              <a:rPr lang="en-US" sz="1700" dirty="0">
                <a:solidFill>
                  <a:srgbClr val="FF3300"/>
                </a:solidFill>
                <a:latin typeface="Segoe UI Semibold" panose="020B0702040204020203" pitchFamily="34" charset="0"/>
                <a:ea typeface="Host Grotesk Medium" pitchFamily="34" charset="-122"/>
                <a:cs typeface="Segoe UI Semibold" panose="020B0702040204020203" pitchFamily="34" charset="0"/>
              </a:rPr>
              <a:t>Stable Monthly Cadence</a:t>
            </a:r>
            <a:endParaRPr lang="en-US" sz="1700" dirty="0">
              <a:solidFill>
                <a:srgbClr val="FF3300"/>
              </a:solidFill>
              <a:latin typeface="Segoe UI Semibold" panose="020B0702040204020203" pitchFamily="34" charset="0"/>
              <a:cs typeface="Segoe UI Semibold" panose="020B0702040204020203" pitchFamily="34" charset="0"/>
            </a:endParaRPr>
          </a:p>
        </p:txBody>
      </p:sp>
      <p:sp>
        <p:nvSpPr>
          <p:cNvPr id="9" name="Text 6"/>
          <p:cNvSpPr/>
          <p:nvPr/>
        </p:nvSpPr>
        <p:spPr>
          <a:xfrm>
            <a:off x="8330992" y="3277592"/>
            <a:ext cx="2997125" cy="1163241"/>
          </a:xfrm>
          <a:prstGeom prst="rect">
            <a:avLst/>
          </a:prstGeom>
          <a:noFill/>
          <a:ln/>
        </p:spPr>
        <p:txBody>
          <a:bodyPr wrap="square" lIns="0" tIns="0" rIns="0" bIns="0" rtlCol="0" anchor="t">
            <a:normAutofit/>
          </a:bodyPr>
          <a:lstStyle/>
          <a:p>
            <a:pPr marL="0" indent="0" algn="l">
              <a:lnSpc>
                <a:spcPct val="129000"/>
              </a:lnSpc>
              <a:spcAft>
                <a:spcPts val="1050"/>
              </a:spcAft>
              <a:buNone/>
            </a:pPr>
            <a:r>
              <a:rPr lang="en-US" sz="1300" b="1" dirty="0">
                <a:solidFill>
                  <a:srgbClr val="FF3300"/>
                </a:solidFill>
                <a:latin typeface="Segoe UI Semibold" panose="020B0702040204020203" pitchFamily="34" charset="0"/>
                <a:ea typeface="Host Grotesk Bold" pitchFamily="34" charset="-122"/>
                <a:cs typeface="Segoe UI Semibold" panose="020B0702040204020203" pitchFamily="34" charset="0"/>
              </a:rPr>
              <a:t>Peak month:</a:t>
            </a:r>
            <a:r>
              <a:rPr lang="en-US" sz="1300" dirty="0">
                <a:solidFill>
                  <a:srgbClr val="FF3300"/>
                </a:solidFill>
                <a:latin typeface="Segoe UI Semibold" panose="020B0702040204020203" pitchFamily="34" charset="0"/>
                <a:ea typeface="Host Grotesk" pitchFamily="34" charset="-122"/>
                <a:cs typeface="Segoe UI Semibold" panose="020B0702040204020203" pitchFamily="34" charset="0"/>
              </a:rPr>
              <a:t> October 2025, at ₹1,396,906.86.</a:t>
            </a:r>
            <a:endParaRPr lang="en-US" sz="1300" dirty="0">
              <a:solidFill>
                <a:srgbClr val="FF3300"/>
              </a:solidFill>
              <a:latin typeface="Segoe UI Semibold" panose="020B0702040204020203" pitchFamily="34" charset="0"/>
              <a:cs typeface="Segoe UI Semibold" panose="020B0702040204020203" pitchFamily="34" charset="0"/>
            </a:endParaRPr>
          </a:p>
          <a:p>
            <a:pPr marL="0" indent="0" algn="l">
              <a:lnSpc>
                <a:spcPct val="129000"/>
              </a:lnSpc>
              <a:buNone/>
            </a:pPr>
            <a:r>
              <a:rPr lang="en-US" sz="1300" b="1" dirty="0">
                <a:solidFill>
                  <a:srgbClr val="FF3300"/>
                </a:solidFill>
                <a:latin typeface="Segoe UI Semibold" panose="020B0702040204020203" pitchFamily="34" charset="0"/>
                <a:ea typeface="Host Grotesk Bold" pitchFamily="34" charset="-122"/>
                <a:cs typeface="Segoe UI Semibold" panose="020B0702040204020203" pitchFamily="34" charset="0"/>
              </a:rPr>
              <a:t>Lowest month:</a:t>
            </a:r>
            <a:r>
              <a:rPr lang="en-US" sz="1300" dirty="0">
                <a:solidFill>
                  <a:srgbClr val="FF3300"/>
                </a:solidFill>
                <a:latin typeface="Segoe UI Semibold" panose="020B0702040204020203" pitchFamily="34" charset="0"/>
                <a:ea typeface="Host Grotesk" pitchFamily="34" charset="-122"/>
                <a:cs typeface="Segoe UI Semibold" panose="020B0702040204020203" pitchFamily="34" charset="0"/>
              </a:rPr>
              <a:t> February 2026, the one clear dip.</a:t>
            </a:r>
            <a:endParaRPr lang="en-US" sz="1300" dirty="0">
              <a:solidFill>
                <a:srgbClr val="FF3300"/>
              </a:solidFill>
              <a:latin typeface="Segoe UI Semibold" panose="020B0702040204020203" pitchFamily="34" charset="0"/>
              <a:cs typeface="Segoe UI Semibold" panose="020B0702040204020203" pitchFamily="34" charset="0"/>
            </a:endParaRPr>
          </a:p>
        </p:txBody>
      </p:sp>
      <p:sp>
        <p:nvSpPr>
          <p:cNvPr id="10" name="Shape 7"/>
          <p:cNvSpPr/>
          <p:nvPr/>
        </p:nvSpPr>
        <p:spPr>
          <a:xfrm>
            <a:off x="8330992" y="4626570"/>
            <a:ext cx="2997125" cy="12601"/>
          </a:xfrm>
          <a:prstGeom prst="roundRect">
            <a:avLst>
              <a:gd name="adj" fmla="val 49998"/>
            </a:avLst>
          </a:prstGeom>
          <a:solidFill>
            <a:srgbClr val="E7E3DA">
              <a:alpha val="24000"/>
            </a:srgbClr>
          </a:solidFill>
          <a:ln/>
        </p:spPr>
      </p:sp>
      <p:sp>
        <p:nvSpPr>
          <p:cNvPr id="11" name="Text 8"/>
          <p:cNvSpPr/>
          <p:nvPr/>
        </p:nvSpPr>
        <p:spPr>
          <a:xfrm>
            <a:off x="8330992" y="4825008"/>
            <a:ext cx="2997125" cy="446881"/>
          </a:xfrm>
          <a:prstGeom prst="rect">
            <a:avLst/>
          </a:prstGeom>
          <a:noFill/>
          <a:ln/>
        </p:spPr>
        <p:txBody>
          <a:bodyPr wrap="square" lIns="0" tIns="0" rIns="0" bIns="0" rtlCol="0" anchor="t">
            <a:normAutofit/>
          </a:bodyPr>
          <a:lstStyle/>
          <a:p>
            <a:pPr marL="0" indent="0" algn="l">
              <a:lnSpc>
                <a:spcPct val="133000"/>
              </a:lnSpc>
              <a:buNone/>
            </a:pPr>
            <a:r>
              <a:rPr lang="en-US" sz="1100" b="1" kern="100" spc="22" dirty="0">
                <a:solidFill>
                  <a:srgbClr val="FF3300"/>
                </a:solidFill>
                <a:latin typeface="Segoe UI Semibold" panose="020B0702040204020203" pitchFamily="34" charset="0"/>
                <a:ea typeface="Host Grotesk Bold" pitchFamily="34" charset="-122"/>
                <a:cs typeface="Segoe UI Semibold" panose="020B0702040204020203" pitchFamily="34" charset="0"/>
              </a:rPr>
              <a:t>Note:</a:t>
            </a:r>
            <a:r>
              <a:rPr lang="en-US" sz="1100" kern="100" spc="22" dirty="0">
                <a:solidFill>
                  <a:srgbClr val="FF3300"/>
                </a:solidFill>
                <a:latin typeface="Segoe UI Semibold" panose="020B0702040204020203" pitchFamily="34" charset="0"/>
                <a:ea typeface="Host Grotesk" pitchFamily="34" charset="-122"/>
                <a:cs typeface="Segoe UI Semibold" panose="020B0702040204020203" pitchFamily="34" charset="0"/>
              </a:rPr>
              <a:t> 2026 is a partial year, so compare equivalent months only.</a:t>
            </a:r>
            <a:endParaRPr lang="en-US" sz="1100" dirty="0">
              <a:solidFill>
                <a:srgbClr val="FF3300"/>
              </a:solidFill>
              <a:latin typeface="Segoe UI Semibold" panose="020B0702040204020203" pitchFamily="34" charset="0"/>
              <a:cs typeface="Segoe UI Semibold" panose="020B0702040204020203" pitchFamily="34" charset="0"/>
            </a:endParaRPr>
          </a:p>
        </p:txBody>
      </p:sp>
      <p:sp>
        <p:nvSpPr>
          <p:cNvPr id="12" name="Text 9"/>
          <p:cNvSpPr/>
          <p:nvPr/>
        </p:nvSpPr>
        <p:spPr>
          <a:xfrm>
            <a:off x="609585" y="6041529"/>
            <a:ext cx="11582110" cy="223441"/>
          </a:xfrm>
          <a:prstGeom prst="rect">
            <a:avLst/>
          </a:prstGeom>
          <a:noFill/>
          <a:ln/>
        </p:spPr>
        <p:txBody>
          <a:bodyPr wrap="none" lIns="0" tIns="0" rIns="0" bIns="0" rtlCol="0" anchor="t"/>
          <a:lstStyle/>
          <a:p>
            <a:pPr marL="0" indent="0" algn="l">
              <a:lnSpc>
                <a:spcPct val="133000"/>
              </a:lnSpc>
              <a:buNone/>
            </a:pPr>
            <a:r>
              <a:rPr lang="en-US" sz="1100" kern="100" spc="22" dirty="0">
                <a:solidFill>
                  <a:srgbClr val="FF3300"/>
                </a:solidFill>
                <a:latin typeface="Segoe UI Semibold" panose="020B0702040204020203" pitchFamily="34" charset="0"/>
                <a:ea typeface="Host Grotesk" pitchFamily="34" charset="-122"/>
                <a:cs typeface="Segoe UI Semibold" panose="020B0702040204020203" pitchFamily="34" charset="0"/>
              </a:rPr>
              <a:t>Monthly aggregate recorded revenue · October 2025 peak: ₹1.40M · February 2026 trough: ₹1.24M</a:t>
            </a:r>
            <a:endParaRPr lang="en-US" sz="1100" dirty="0">
              <a:solidFill>
                <a:srgbClr val="FF3300"/>
              </a:solidFill>
              <a:latin typeface="Segoe UI Semibold" panose="020B0702040204020203" pitchFamily="34" charset="0"/>
              <a:cs typeface="Segoe UI Semibold" panose="020B0702040204020203" pitchFamily="34" charset="0"/>
            </a:endParaRPr>
          </a:p>
        </p:txBody>
      </p:sp>
      <p:pic>
        <p:nvPicPr>
          <p:cNvPr id="15" name="Picture 14">
            <a:extLst>
              <a:ext uri="{FF2B5EF4-FFF2-40B4-BE49-F238E27FC236}">
                <a16:creationId xmlns:a16="http://schemas.microsoft.com/office/drawing/2014/main" id="{50D4DBED-0654-A960-2387-A4FA69C85B4B}"/>
              </a:ext>
            </a:extLst>
          </p:cNvPr>
          <p:cNvPicPr>
            <a:picLocks noChangeAspect="1"/>
          </p:cNvPicPr>
          <p:nvPr/>
        </p:nvPicPr>
        <p:blipFill>
          <a:blip r:embed="rId3"/>
          <a:stretch>
            <a:fillRect/>
          </a:stretch>
        </p:blipFill>
        <p:spPr>
          <a:xfrm>
            <a:off x="609585" y="1632208"/>
            <a:ext cx="7229049" cy="3994360"/>
          </a:xfrm>
          <a:prstGeom prst="rect">
            <a:avLst/>
          </a:prstGeom>
        </p:spPr>
      </p:pic>
      <p:cxnSp>
        <p:nvCxnSpPr>
          <p:cNvPr id="17" name="Straight Connector 16">
            <a:extLst>
              <a:ext uri="{FF2B5EF4-FFF2-40B4-BE49-F238E27FC236}">
                <a16:creationId xmlns:a16="http://schemas.microsoft.com/office/drawing/2014/main" id="{36784FBB-5BAB-54F3-2864-CC7427346C1F}"/>
              </a:ext>
            </a:extLst>
          </p:cNvPr>
          <p:cNvCxnSpPr>
            <a:cxnSpLocks/>
          </p:cNvCxnSpPr>
          <p:nvPr/>
        </p:nvCxnSpPr>
        <p:spPr>
          <a:xfrm>
            <a:off x="680936" y="1517515"/>
            <a:ext cx="11146635" cy="0"/>
          </a:xfrm>
          <a:prstGeom prst="line">
            <a:avLst/>
          </a:prstGeom>
        </p:spPr>
        <p:style>
          <a:lnRef idx="2">
            <a:schemeClr val="accent2"/>
          </a:lnRef>
          <a:fillRef idx="0">
            <a:schemeClr val="accent2"/>
          </a:fillRef>
          <a:effectRef idx="1">
            <a:schemeClr val="accent2"/>
          </a:effectRef>
          <a:fontRef idx="minor">
            <a:schemeClr val="tx1"/>
          </a:fontRef>
        </p:style>
      </p:cxnSp>
      <p:sp>
        <p:nvSpPr>
          <p:cNvPr id="22" name="Rectangle: Rounded Corners 21">
            <a:extLst>
              <a:ext uri="{FF2B5EF4-FFF2-40B4-BE49-F238E27FC236}">
                <a16:creationId xmlns:a16="http://schemas.microsoft.com/office/drawing/2014/main" id="{671E3497-1FBB-5C93-C883-4902BEC89CCB}"/>
              </a:ext>
            </a:extLst>
          </p:cNvPr>
          <p:cNvSpPr/>
          <p:nvPr/>
        </p:nvSpPr>
        <p:spPr>
          <a:xfrm>
            <a:off x="11044518" y="6527695"/>
            <a:ext cx="1147482" cy="34065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rgbClr val="FF3300"/>
                </a:solidFill>
                <a:latin typeface="Arial Black" panose="020B0A04020102020204" pitchFamily="34" charset="0"/>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marL="0" indent="0" algn="l">
              <a:lnSpc>
                <a:spcPct val="150000"/>
              </a:lnSpc>
              <a:buNone/>
            </a:pPr>
            <a:r>
              <a:rPr lang="en-US" sz="1100" b="1" kern="100" spc="110" dirty="0">
                <a:solidFill>
                  <a:srgbClr val="FF3300"/>
                </a:solidFill>
                <a:latin typeface="Segoe UI Semibold" panose="020B0702040204020203" pitchFamily="34" charset="0"/>
                <a:ea typeface="Host Grotesk Medium" pitchFamily="34" charset="-122"/>
                <a:cs typeface="Segoe UI Semibold" panose="020B0702040204020203" pitchFamily="34" charset="0"/>
              </a:rPr>
              <a:t>GEOGRAPHIC DISTRIBUTION</a:t>
            </a:r>
            <a:endParaRPr lang="en-US" sz="1100" b="1" dirty="0">
              <a:solidFill>
                <a:srgbClr val="FF3300"/>
              </a:solidFill>
              <a:latin typeface="Segoe UI Semibold" panose="020B0702040204020203" pitchFamily="34" charset="0"/>
              <a:cs typeface="Segoe UI Semibold" panose="020B0702040204020203" pitchFamily="34" charset="0"/>
            </a:endParaRPr>
          </a:p>
        </p:txBody>
      </p:sp>
      <p:sp>
        <p:nvSpPr>
          <p:cNvPr id="3" name="Text 1"/>
          <p:cNvSpPr/>
          <p:nvPr/>
        </p:nvSpPr>
        <p:spPr>
          <a:xfrm>
            <a:off x="609585" y="986115"/>
            <a:ext cx="10972526" cy="426641"/>
          </a:xfrm>
          <a:prstGeom prst="rect">
            <a:avLst/>
          </a:prstGeom>
          <a:noFill/>
          <a:ln/>
        </p:spPr>
        <p:txBody>
          <a:bodyPr wrap="none" lIns="0" tIns="0" rIns="0" bIns="0" rtlCol="0" anchor="t"/>
          <a:lstStyle/>
          <a:p>
            <a:pPr marL="0" indent="0" algn="l">
              <a:lnSpc>
                <a:spcPct val="93000"/>
              </a:lnSpc>
              <a:buNone/>
            </a:pPr>
            <a:r>
              <a:rPr lang="en-US" sz="3000" kern="100" spc="-15" dirty="0">
                <a:solidFill>
                  <a:srgbClr val="FF3300"/>
                </a:solidFill>
                <a:latin typeface="Segoe UI Semibold" panose="020B0702040204020203" pitchFamily="34" charset="0"/>
                <a:ea typeface="Host Grotesk Light" pitchFamily="34" charset="-122"/>
                <a:cs typeface="Segoe UI Semibold" panose="020B0702040204020203" pitchFamily="34" charset="0"/>
              </a:rPr>
              <a:t>Revenue is spread evenly across eight cities</a:t>
            </a:r>
            <a:endParaRPr lang="en-US" sz="3000" dirty="0">
              <a:solidFill>
                <a:srgbClr val="FF3300"/>
              </a:solidFill>
              <a:latin typeface="Segoe UI Semibold" panose="020B0702040204020203" pitchFamily="34" charset="0"/>
              <a:cs typeface="Segoe UI Semibold" panose="020B0702040204020203" pitchFamily="34" charset="0"/>
            </a:endParaRPr>
          </a:p>
        </p:txBody>
      </p:sp>
      <p:sp>
        <p:nvSpPr>
          <p:cNvPr id="5" name="Shape 2"/>
          <p:cNvSpPr/>
          <p:nvPr/>
        </p:nvSpPr>
        <p:spPr>
          <a:xfrm>
            <a:off x="8076998" y="1876921"/>
            <a:ext cx="3505112" cy="3679329"/>
          </a:xfrm>
          <a:prstGeom prst="rect">
            <a:avLst/>
          </a:prstGeom>
          <a:solidFill>
            <a:schemeClr val="accent2">
              <a:lumMod val="20000"/>
              <a:lumOff val="80000"/>
            </a:schemeClr>
          </a:solidFill>
          <a:ln/>
        </p:spPr>
      </p:sp>
      <p:sp>
        <p:nvSpPr>
          <p:cNvPr id="6" name="Text 3"/>
          <p:cNvSpPr/>
          <p:nvPr/>
        </p:nvSpPr>
        <p:spPr>
          <a:xfrm>
            <a:off x="8330992" y="2130921"/>
            <a:ext cx="3251119"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FF3300"/>
                </a:solidFill>
                <a:latin typeface="Segoe UI Semibold" panose="020B0702040204020203" pitchFamily="34" charset="0"/>
                <a:ea typeface="Host Grotesk Medium" pitchFamily="34" charset="-122"/>
                <a:cs typeface="Segoe UI Semibold" panose="020B0702040204020203" pitchFamily="34" charset="0"/>
              </a:rPr>
              <a:t>MARKET UNIFORMITY</a:t>
            </a:r>
            <a:endParaRPr lang="en-US" sz="1100" dirty="0">
              <a:solidFill>
                <a:srgbClr val="FF3300"/>
              </a:solidFill>
              <a:latin typeface="Segoe UI Semibold" panose="020B0702040204020203" pitchFamily="34" charset="0"/>
              <a:cs typeface="Segoe UI Semibold" panose="020B0702040204020203" pitchFamily="34" charset="0"/>
            </a:endParaRPr>
          </a:p>
        </p:txBody>
      </p:sp>
      <p:sp>
        <p:nvSpPr>
          <p:cNvPr id="7" name="Text 4"/>
          <p:cNvSpPr/>
          <p:nvPr/>
        </p:nvSpPr>
        <p:spPr>
          <a:xfrm>
            <a:off x="8330992" y="2482989"/>
            <a:ext cx="2997125" cy="391120"/>
          </a:xfrm>
          <a:prstGeom prst="rect">
            <a:avLst/>
          </a:prstGeom>
          <a:noFill/>
          <a:ln/>
        </p:spPr>
        <p:txBody>
          <a:bodyPr wrap="none" lIns="0" tIns="0" rIns="0" bIns="0" rtlCol="0" anchor="t"/>
          <a:lstStyle/>
          <a:p>
            <a:pPr marL="0" indent="0" algn="l">
              <a:lnSpc>
                <a:spcPct val="117000"/>
              </a:lnSpc>
              <a:buNone/>
            </a:pPr>
            <a:r>
              <a:rPr lang="en-US" sz="2200" dirty="0">
                <a:solidFill>
                  <a:srgbClr val="FF3300"/>
                </a:solidFill>
                <a:latin typeface="Segoe UI Semibold" panose="020B0702040204020203" pitchFamily="34" charset="0"/>
                <a:ea typeface="Host Grotesk Medium" pitchFamily="34" charset="-122"/>
                <a:cs typeface="Segoe UI Semibold" panose="020B0702040204020203" pitchFamily="34" charset="0"/>
              </a:rPr>
              <a:t>Top-to-Bottom Delta</a:t>
            </a:r>
            <a:endParaRPr lang="en-US" sz="2200" dirty="0">
              <a:solidFill>
                <a:srgbClr val="FF3300"/>
              </a:solidFill>
              <a:latin typeface="Segoe UI Semibold" panose="020B0702040204020203" pitchFamily="34" charset="0"/>
              <a:cs typeface="Segoe UI Semibold" panose="020B0702040204020203" pitchFamily="34" charset="0"/>
            </a:endParaRPr>
          </a:p>
        </p:txBody>
      </p:sp>
      <p:sp>
        <p:nvSpPr>
          <p:cNvPr id="8" name="Text 5"/>
          <p:cNvSpPr/>
          <p:nvPr/>
        </p:nvSpPr>
        <p:spPr>
          <a:xfrm>
            <a:off x="8330992" y="3058640"/>
            <a:ext cx="2997125" cy="630932"/>
          </a:xfrm>
          <a:prstGeom prst="rect">
            <a:avLst/>
          </a:prstGeom>
          <a:noFill/>
          <a:ln/>
        </p:spPr>
        <p:txBody>
          <a:bodyPr wrap="none" lIns="0" tIns="0" rIns="0" bIns="0" rtlCol="0" anchor="t"/>
          <a:lstStyle/>
          <a:p>
            <a:pPr marL="0" indent="0" algn="l">
              <a:lnSpc>
                <a:spcPct val="90000"/>
              </a:lnSpc>
              <a:buNone/>
            </a:pPr>
            <a:r>
              <a:rPr lang="en-US" sz="4600" kern="100" spc="-46" dirty="0">
                <a:solidFill>
                  <a:srgbClr val="FF3300"/>
                </a:solidFill>
                <a:latin typeface="Segoe UI Semibold" panose="020B0702040204020203" pitchFamily="34" charset="0"/>
                <a:ea typeface="Host Grotesk Light" pitchFamily="34" charset="-122"/>
                <a:cs typeface="Segoe UI Semibold" panose="020B0702040204020203" pitchFamily="34" charset="0"/>
              </a:rPr>
              <a:t>₹167k</a:t>
            </a:r>
            <a:endParaRPr lang="en-US" sz="4600" dirty="0">
              <a:solidFill>
                <a:srgbClr val="FF3300"/>
              </a:solidFill>
              <a:latin typeface="Segoe UI Semibold" panose="020B0702040204020203" pitchFamily="34" charset="0"/>
              <a:cs typeface="Segoe UI Semibold" panose="020B0702040204020203" pitchFamily="34" charset="0"/>
            </a:endParaRPr>
          </a:p>
        </p:txBody>
      </p:sp>
      <p:sp>
        <p:nvSpPr>
          <p:cNvPr id="9" name="Text 6"/>
          <p:cNvSpPr/>
          <p:nvPr/>
        </p:nvSpPr>
        <p:spPr>
          <a:xfrm>
            <a:off x="8330992" y="3880644"/>
            <a:ext cx="2997125" cy="590550"/>
          </a:xfrm>
          <a:prstGeom prst="rect">
            <a:avLst/>
          </a:prstGeom>
          <a:noFill/>
          <a:ln/>
        </p:spPr>
        <p:txBody>
          <a:bodyPr wrap="square" lIns="0" tIns="0" rIns="0" bIns="0" rtlCol="0" anchor="t">
            <a:normAutofit/>
          </a:bodyPr>
          <a:lstStyle/>
          <a:p>
            <a:pPr marL="0" indent="0" algn="l">
              <a:lnSpc>
                <a:spcPct val="129000"/>
              </a:lnSpc>
              <a:buNone/>
            </a:pP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Pune leads at </a:t>
            </a:r>
            <a:r>
              <a:rPr lang="en-US" sz="1500" b="1" dirty="0">
                <a:solidFill>
                  <a:srgbClr val="FF3300"/>
                </a:solidFill>
                <a:latin typeface="Segoe UI Semibold" panose="020B0702040204020203" pitchFamily="34" charset="0"/>
                <a:ea typeface="Host Grotesk Bold" pitchFamily="34" charset="-122"/>
                <a:cs typeface="Segoe UI Semibold" panose="020B0702040204020203" pitchFamily="34" charset="0"/>
              </a:rPr>
              <a:t>₹3.45M</a:t>
            </a: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 Hyderabad is lowest at </a:t>
            </a:r>
            <a:r>
              <a:rPr lang="en-US" sz="1500" b="1" dirty="0">
                <a:solidFill>
                  <a:srgbClr val="FF3300"/>
                </a:solidFill>
                <a:latin typeface="Segoe UI Semibold" panose="020B0702040204020203" pitchFamily="34" charset="0"/>
                <a:ea typeface="Host Grotesk Bold" pitchFamily="34" charset="-122"/>
                <a:cs typeface="Segoe UI Semibold" panose="020B0702040204020203" pitchFamily="34" charset="0"/>
              </a:rPr>
              <a:t>₹3.28M</a:t>
            </a: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a:t>
            </a:r>
            <a:endParaRPr lang="en-US" sz="1500" dirty="0">
              <a:solidFill>
                <a:srgbClr val="FF3300"/>
              </a:solidFill>
              <a:latin typeface="Segoe UI Semibold" panose="020B0702040204020203" pitchFamily="34" charset="0"/>
              <a:cs typeface="Segoe UI Semibold" panose="020B0702040204020203" pitchFamily="34" charset="0"/>
            </a:endParaRPr>
          </a:p>
        </p:txBody>
      </p:sp>
      <p:sp>
        <p:nvSpPr>
          <p:cNvPr id="10" name="Shape 7"/>
          <p:cNvSpPr/>
          <p:nvPr/>
        </p:nvSpPr>
        <p:spPr>
          <a:xfrm>
            <a:off x="8330992" y="4656931"/>
            <a:ext cx="2997125" cy="12601"/>
          </a:xfrm>
          <a:prstGeom prst="roundRect">
            <a:avLst>
              <a:gd name="adj" fmla="val 49998"/>
            </a:avLst>
          </a:prstGeom>
          <a:solidFill>
            <a:srgbClr val="E7E3DA">
              <a:alpha val="24000"/>
            </a:srgbClr>
          </a:solidFill>
          <a:ln/>
        </p:spPr>
      </p:sp>
      <p:sp>
        <p:nvSpPr>
          <p:cNvPr id="11" name="Text 8"/>
          <p:cNvSpPr/>
          <p:nvPr/>
        </p:nvSpPr>
        <p:spPr>
          <a:xfrm>
            <a:off x="8330992" y="4855369"/>
            <a:ext cx="2997125" cy="446881"/>
          </a:xfrm>
          <a:prstGeom prst="rect">
            <a:avLst/>
          </a:prstGeom>
          <a:noFill/>
          <a:ln/>
        </p:spPr>
        <p:txBody>
          <a:bodyPr wrap="square" lIns="0" tIns="0" rIns="0" bIns="0" rtlCol="0" anchor="t">
            <a:normAutofit/>
          </a:bodyPr>
          <a:lstStyle/>
          <a:p>
            <a:pPr marL="0" indent="0" algn="l">
              <a:lnSpc>
                <a:spcPct val="133000"/>
              </a:lnSpc>
              <a:buNone/>
            </a:pPr>
            <a:r>
              <a:rPr lang="en-US" sz="1100" kern="100" spc="22" dirty="0">
                <a:solidFill>
                  <a:srgbClr val="FF3300"/>
                </a:solidFill>
                <a:latin typeface="Segoe UI Semibold" panose="020B0702040204020203" pitchFamily="34" charset="0"/>
                <a:ea typeface="Host Grotesk" pitchFamily="34" charset="-122"/>
                <a:cs typeface="Segoe UI Semibold" panose="020B0702040204020203" pitchFamily="34" charset="0"/>
              </a:rPr>
              <a:t>The ₹166,962 gap means city ranking alone should not drive decisions.</a:t>
            </a:r>
            <a:endParaRPr lang="en-US" sz="1100" dirty="0">
              <a:solidFill>
                <a:srgbClr val="FF3300"/>
              </a:solidFill>
              <a:latin typeface="Segoe UI Semibold" panose="020B0702040204020203" pitchFamily="34" charset="0"/>
              <a:cs typeface="Segoe UI Semibold" panose="020B0702040204020203" pitchFamily="34" charset="0"/>
            </a:endParaRPr>
          </a:p>
        </p:txBody>
      </p:sp>
      <p:sp>
        <p:nvSpPr>
          <p:cNvPr id="12" name="Text 9"/>
          <p:cNvSpPr/>
          <p:nvPr/>
        </p:nvSpPr>
        <p:spPr>
          <a:xfrm>
            <a:off x="609585" y="6024959"/>
            <a:ext cx="11582110" cy="223441"/>
          </a:xfrm>
          <a:prstGeom prst="rect">
            <a:avLst/>
          </a:prstGeom>
          <a:noFill/>
          <a:ln/>
        </p:spPr>
        <p:txBody>
          <a:bodyPr wrap="none" lIns="0" tIns="0" rIns="0" bIns="0" rtlCol="0" anchor="t"/>
          <a:lstStyle/>
          <a:p>
            <a:pPr marL="0" indent="0" algn="l">
              <a:lnSpc>
                <a:spcPct val="133000"/>
              </a:lnSpc>
              <a:buNone/>
            </a:pPr>
            <a:r>
              <a:rPr lang="en-US" sz="1100" kern="100" spc="22" dirty="0">
                <a:solidFill>
                  <a:srgbClr val="FF3300"/>
                </a:solidFill>
                <a:latin typeface="Segoe UI Semibold" panose="020B0702040204020203" pitchFamily="34" charset="0"/>
                <a:ea typeface="Host Grotesk" pitchFamily="34" charset="-122"/>
                <a:cs typeface="Segoe UI Semibold" panose="020B0702040204020203" pitchFamily="34" charset="0"/>
              </a:rPr>
              <a:t>Recorded revenue by city · Total delta: ₹166,962 across 8 distinct metro operations</a:t>
            </a:r>
            <a:endParaRPr lang="en-US" sz="1100" dirty="0">
              <a:solidFill>
                <a:srgbClr val="FF3300"/>
              </a:solidFill>
              <a:latin typeface="Segoe UI Semibold" panose="020B0702040204020203" pitchFamily="34" charset="0"/>
              <a:cs typeface="Segoe UI Semibold" panose="020B0702040204020203" pitchFamily="34" charset="0"/>
            </a:endParaRPr>
          </a:p>
        </p:txBody>
      </p:sp>
      <p:cxnSp>
        <p:nvCxnSpPr>
          <p:cNvPr id="14" name="Straight Connector 13">
            <a:extLst>
              <a:ext uri="{FF2B5EF4-FFF2-40B4-BE49-F238E27FC236}">
                <a16:creationId xmlns:a16="http://schemas.microsoft.com/office/drawing/2014/main" id="{163F8D3F-B6F9-947E-C173-9381585C971E}"/>
              </a:ext>
            </a:extLst>
          </p:cNvPr>
          <p:cNvCxnSpPr>
            <a:cxnSpLocks/>
          </p:cNvCxnSpPr>
          <p:nvPr/>
        </p:nvCxnSpPr>
        <p:spPr>
          <a:xfrm>
            <a:off x="680936" y="1517515"/>
            <a:ext cx="11146635" cy="0"/>
          </a:xfrm>
          <a:prstGeom prst="line">
            <a:avLst/>
          </a:prstGeom>
        </p:spPr>
        <p:style>
          <a:lnRef idx="2">
            <a:schemeClr val="accent2"/>
          </a:lnRef>
          <a:fillRef idx="0">
            <a:schemeClr val="accent2"/>
          </a:fillRef>
          <a:effectRef idx="1">
            <a:schemeClr val="accent2"/>
          </a:effectRef>
          <a:fontRef idx="minor">
            <a:schemeClr val="tx1"/>
          </a:fontRef>
        </p:style>
      </p:cxnSp>
      <p:pic>
        <p:nvPicPr>
          <p:cNvPr id="16" name="Picture 15">
            <a:extLst>
              <a:ext uri="{FF2B5EF4-FFF2-40B4-BE49-F238E27FC236}">
                <a16:creationId xmlns:a16="http://schemas.microsoft.com/office/drawing/2014/main" id="{EEFFC9F2-E214-68A3-1C34-D7E1A4ADBAA7}"/>
              </a:ext>
            </a:extLst>
          </p:cNvPr>
          <p:cNvPicPr>
            <a:picLocks noChangeAspect="1"/>
          </p:cNvPicPr>
          <p:nvPr/>
        </p:nvPicPr>
        <p:blipFill>
          <a:blip r:embed="rId3"/>
          <a:stretch>
            <a:fillRect/>
          </a:stretch>
        </p:blipFill>
        <p:spPr>
          <a:xfrm>
            <a:off x="609585" y="1636865"/>
            <a:ext cx="7007172" cy="4063542"/>
          </a:xfrm>
          <a:prstGeom prst="rect">
            <a:avLst/>
          </a:prstGeom>
        </p:spPr>
      </p:pic>
      <p:sp>
        <p:nvSpPr>
          <p:cNvPr id="18" name="Rectangle: Rounded Corners 17">
            <a:extLst>
              <a:ext uri="{FF2B5EF4-FFF2-40B4-BE49-F238E27FC236}">
                <a16:creationId xmlns:a16="http://schemas.microsoft.com/office/drawing/2014/main" id="{D84B0541-C384-1C8A-282B-D03C4AC220EB}"/>
              </a:ext>
            </a:extLst>
          </p:cNvPr>
          <p:cNvSpPr/>
          <p:nvPr/>
        </p:nvSpPr>
        <p:spPr>
          <a:xfrm>
            <a:off x="11044518" y="6516727"/>
            <a:ext cx="1147482" cy="34065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rgbClr val="FF3300"/>
                </a:solidFill>
                <a:latin typeface="Arial Black" panose="020B0A04020102020204" pitchFamily="34" charset="0"/>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609585" y="636270"/>
            <a:ext cx="10972526" cy="426641"/>
          </a:xfrm>
          <a:prstGeom prst="rect">
            <a:avLst/>
          </a:prstGeom>
          <a:noFill/>
          <a:ln/>
        </p:spPr>
        <p:txBody>
          <a:bodyPr wrap="none" lIns="0" tIns="0" rIns="0" bIns="0" rtlCol="0" anchor="t"/>
          <a:lstStyle/>
          <a:p>
            <a:pPr marL="0" indent="0" algn="l">
              <a:lnSpc>
                <a:spcPct val="93000"/>
              </a:lnSpc>
              <a:buNone/>
            </a:pPr>
            <a:r>
              <a:rPr lang="en-US" sz="3000" kern="100" spc="-15" dirty="0">
                <a:solidFill>
                  <a:srgbClr val="FF3300"/>
                </a:solidFill>
                <a:latin typeface="Segoe UI Semibold" panose="020B0702040204020203" pitchFamily="34" charset="0"/>
                <a:ea typeface="Host Grotesk Light" pitchFamily="34" charset="-122"/>
                <a:cs typeface="Segoe UI Semibold" panose="020B0702040204020203" pitchFamily="34" charset="0"/>
              </a:rPr>
              <a:t>Seafood and Pizza lead food categories by recorded revenue</a:t>
            </a:r>
            <a:endParaRPr lang="en-US" sz="3000" dirty="0">
              <a:solidFill>
                <a:srgbClr val="FF3300"/>
              </a:solidFill>
              <a:latin typeface="Segoe UI Semibold" panose="020B0702040204020203" pitchFamily="34" charset="0"/>
              <a:cs typeface="Segoe UI Semibold" panose="020B0702040204020203" pitchFamily="34" charset="0"/>
            </a:endParaRPr>
          </a:p>
        </p:txBody>
      </p:sp>
      <p:sp>
        <p:nvSpPr>
          <p:cNvPr id="4" name="Shape 1"/>
          <p:cNvSpPr/>
          <p:nvPr/>
        </p:nvSpPr>
        <p:spPr>
          <a:xfrm>
            <a:off x="8427430" y="2581573"/>
            <a:ext cx="3154680" cy="2359620"/>
          </a:xfrm>
          <a:prstGeom prst="rect">
            <a:avLst/>
          </a:prstGeom>
          <a:solidFill>
            <a:schemeClr val="accent2">
              <a:lumMod val="20000"/>
              <a:lumOff val="80000"/>
            </a:schemeClr>
          </a:solidFill>
          <a:ln/>
        </p:spPr>
      </p:sp>
      <p:sp>
        <p:nvSpPr>
          <p:cNvPr id="5" name="Text 2"/>
          <p:cNvSpPr/>
          <p:nvPr/>
        </p:nvSpPr>
        <p:spPr>
          <a:xfrm>
            <a:off x="8681423" y="2835573"/>
            <a:ext cx="2900687"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FF3300"/>
                </a:solidFill>
                <a:latin typeface="Segoe UI Semibold" panose="020B0702040204020203" pitchFamily="34" charset="0"/>
                <a:ea typeface="Host Grotesk Medium" pitchFamily="34" charset="-122"/>
                <a:cs typeface="Segoe UI Semibold" panose="020B0702040204020203" pitchFamily="34" charset="0"/>
              </a:rPr>
              <a:t>CATEGORY HIGHLIGHTS</a:t>
            </a:r>
            <a:endParaRPr lang="en-US" sz="1100" dirty="0">
              <a:solidFill>
                <a:srgbClr val="FF3300"/>
              </a:solidFill>
              <a:latin typeface="Segoe UI Semibold" panose="020B0702040204020203" pitchFamily="34" charset="0"/>
              <a:cs typeface="Segoe UI Semibold" panose="020B0702040204020203" pitchFamily="34" charset="0"/>
            </a:endParaRPr>
          </a:p>
        </p:txBody>
      </p:sp>
      <p:sp>
        <p:nvSpPr>
          <p:cNvPr id="6" name="Text 3"/>
          <p:cNvSpPr/>
          <p:nvPr/>
        </p:nvSpPr>
        <p:spPr>
          <a:xfrm>
            <a:off x="8681423" y="3226693"/>
            <a:ext cx="2646693" cy="1460500"/>
          </a:xfrm>
          <a:prstGeom prst="rect">
            <a:avLst/>
          </a:prstGeom>
          <a:noFill/>
          <a:ln/>
        </p:spPr>
        <p:txBody>
          <a:bodyPr wrap="square" lIns="0" tIns="0" rIns="0" bIns="0" rtlCol="0" anchor="t"/>
          <a:lstStyle/>
          <a:p>
            <a:pPr marL="0" indent="0" algn="l">
              <a:lnSpc>
                <a:spcPct val="129000"/>
              </a:lnSpc>
              <a:spcAft>
                <a:spcPts val="1050"/>
              </a:spcAft>
              <a:buNone/>
            </a:pPr>
            <a:r>
              <a:rPr lang="en-US" sz="1500" b="1" dirty="0">
                <a:solidFill>
                  <a:srgbClr val="FF3300"/>
                </a:solidFill>
                <a:latin typeface="Segoe UI Semibold" panose="020B0702040204020203" pitchFamily="34" charset="0"/>
                <a:ea typeface="Host Grotesk Bold" pitchFamily="34" charset="-122"/>
                <a:cs typeface="Segoe UI Semibold" panose="020B0702040204020203" pitchFamily="34" charset="0"/>
              </a:rPr>
              <a:t>Seafood:</a:t>
            </a: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 ₹2.17M</a:t>
            </a:r>
            <a:endParaRPr lang="en-US" sz="1500" dirty="0">
              <a:solidFill>
                <a:srgbClr val="FF3300"/>
              </a:solidFill>
              <a:latin typeface="Segoe UI Semibold" panose="020B0702040204020203" pitchFamily="34" charset="0"/>
              <a:cs typeface="Segoe UI Semibold" panose="020B0702040204020203" pitchFamily="34" charset="0"/>
            </a:endParaRPr>
          </a:p>
          <a:p>
            <a:pPr marL="0" indent="0" algn="l">
              <a:lnSpc>
                <a:spcPct val="129000"/>
              </a:lnSpc>
              <a:spcAft>
                <a:spcPts val="1050"/>
              </a:spcAft>
              <a:buNone/>
            </a:pPr>
            <a:r>
              <a:rPr lang="en-US" sz="1500" b="1" dirty="0">
                <a:solidFill>
                  <a:srgbClr val="FF3300"/>
                </a:solidFill>
                <a:latin typeface="Segoe UI Semibold" panose="020B0702040204020203" pitchFamily="34" charset="0"/>
                <a:ea typeface="Host Grotesk Bold" pitchFamily="34" charset="-122"/>
                <a:cs typeface="Segoe UI Semibold" panose="020B0702040204020203" pitchFamily="34" charset="0"/>
              </a:rPr>
              <a:t>Pizza:</a:t>
            </a: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 ₹2.13M</a:t>
            </a:r>
            <a:endParaRPr lang="en-US" sz="1500" dirty="0">
              <a:solidFill>
                <a:srgbClr val="FF3300"/>
              </a:solidFill>
              <a:latin typeface="Segoe UI Semibold" panose="020B0702040204020203" pitchFamily="34" charset="0"/>
              <a:cs typeface="Segoe UI Semibold" panose="020B0702040204020203" pitchFamily="34" charset="0"/>
            </a:endParaRPr>
          </a:p>
          <a:p>
            <a:pPr marL="0" indent="0" algn="l">
              <a:lnSpc>
                <a:spcPct val="129000"/>
              </a:lnSpc>
              <a:buNone/>
            </a:pPr>
            <a:r>
              <a:rPr lang="en-US" sz="1500" b="1" dirty="0">
                <a:solidFill>
                  <a:srgbClr val="FF3300"/>
                </a:solidFill>
                <a:latin typeface="Segoe UI Semibold" panose="020B0702040204020203" pitchFamily="34" charset="0"/>
                <a:ea typeface="Host Grotesk Bold" pitchFamily="34" charset="-122"/>
                <a:cs typeface="Segoe UI Semibold" panose="020B0702040204020203" pitchFamily="34" charset="0"/>
              </a:rPr>
              <a:t>Beverages:</a:t>
            </a: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 ₹0.70M, the smallest category</a:t>
            </a:r>
            <a:endParaRPr lang="en-US" sz="1500" dirty="0">
              <a:solidFill>
                <a:srgbClr val="FF3300"/>
              </a:solidFill>
              <a:latin typeface="Segoe UI Semibold" panose="020B0702040204020203" pitchFamily="34" charset="0"/>
              <a:cs typeface="Segoe UI Semibold" panose="020B0702040204020203" pitchFamily="34" charset="0"/>
            </a:endParaRPr>
          </a:p>
        </p:txBody>
      </p:sp>
      <p:pic>
        <p:nvPicPr>
          <p:cNvPr id="10" name="Picture 9">
            <a:extLst>
              <a:ext uri="{FF2B5EF4-FFF2-40B4-BE49-F238E27FC236}">
                <a16:creationId xmlns:a16="http://schemas.microsoft.com/office/drawing/2014/main" id="{C61BA037-1855-57A3-B523-552ED1675117}"/>
              </a:ext>
            </a:extLst>
          </p:cNvPr>
          <p:cNvPicPr>
            <a:picLocks noChangeAspect="1"/>
          </p:cNvPicPr>
          <p:nvPr/>
        </p:nvPicPr>
        <p:blipFill>
          <a:blip r:embed="rId3"/>
          <a:stretch>
            <a:fillRect/>
          </a:stretch>
        </p:blipFill>
        <p:spPr>
          <a:xfrm>
            <a:off x="380200" y="1524818"/>
            <a:ext cx="7894467" cy="4584151"/>
          </a:xfrm>
          <a:prstGeom prst="rect">
            <a:avLst/>
          </a:prstGeom>
        </p:spPr>
      </p:pic>
      <p:cxnSp>
        <p:nvCxnSpPr>
          <p:cNvPr id="11" name="Straight Connector 10">
            <a:extLst>
              <a:ext uri="{FF2B5EF4-FFF2-40B4-BE49-F238E27FC236}">
                <a16:creationId xmlns:a16="http://schemas.microsoft.com/office/drawing/2014/main" id="{E33E3967-8392-2EE6-4064-237953AFCA85}"/>
              </a:ext>
            </a:extLst>
          </p:cNvPr>
          <p:cNvCxnSpPr>
            <a:cxnSpLocks/>
          </p:cNvCxnSpPr>
          <p:nvPr/>
        </p:nvCxnSpPr>
        <p:spPr>
          <a:xfrm>
            <a:off x="522682" y="1264595"/>
            <a:ext cx="11146635" cy="0"/>
          </a:xfrm>
          <a:prstGeom prst="line">
            <a:avLst/>
          </a:prstGeom>
        </p:spPr>
        <p:style>
          <a:lnRef idx="2">
            <a:schemeClr val="accent2"/>
          </a:lnRef>
          <a:fillRef idx="0">
            <a:schemeClr val="accent2"/>
          </a:fillRef>
          <a:effectRef idx="1">
            <a:schemeClr val="accent2"/>
          </a:effectRef>
          <a:fontRef idx="minor">
            <a:schemeClr val="tx1"/>
          </a:fontRef>
        </p:style>
      </p:cxnSp>
      <p:sp>
        <p:nvSpPr>
          <p:cNvPr id="13" name="Rectangle: Rounded Corners 12">
            <a:extLst>
              <a:ext uri="{FF2B5EF4-FFF2-40B4-BE49-F238E27FC236}">
                <a16:creationId xmlns:a16="http://schemas.microsoft.com/office/drawing/2014/main" id="{A119BE21-E991-B576-21E2-9BF16113CF7F}"/>
              </a:ext>
            </a:extLst>
          </p:cNvPr>
          <p:cNvSpPr/>
          <p:nvPr/>
        </p:nvSpPr>
        <p:spPr>
          <a:xfrm>
            <a:off x="11044518" y="6517341"/>
            <a:ext cx="1147482" cy="34065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rgbClr val="FF3300"/>
                </a:solidFill>
                <a:latin typeface="Arial Black" panose="020B0A04020102020204" pitchFamily="34" charset="0"/>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609585" y="636270"/>
            <a:ext cx="10972526" cy="426641"/>
          </a:xfrm>
          <a:prstGeom prst="rect">
            <a:avLst/>
          </a:prstGeom>
          <a:noFill/>
          <a:ln/>
        </p:spPr>
        <p:txBody>
          <a:bodyPr wrap="none" lIns="0" tIns="0" rIns="0" bIns="0" rtlCol="0" anchor="t"/>
          <a:lstStyle/>
          <a:p>
            <a:pPr marL="0" indent="0" algn="l">
              <a:lnSpc>
                <a:spcPct val="93000"/>
              </a:lnSpc>
              <a:buNone/>
            </a:pPr>
            <a:r>
              <a:rPr lang="en-US" sz="3000" kern="100" spc="-15" dirty="0">
                <a:solidFill>
                  <a:srgbClr val="FF3300"/>
                </a:solidFill>
                <a:latin typeface="Segoe UI Semibold" panose="020B0702040204020203" pitchFamily="34" charset="0"/>
                <a:ea typeface="Host Grotesk Light" pitchFamily="34" charset="-122"/>
                <a:cs typeface="Segoe UI Semibold" panose="020B0702040204020203" pitchFamily="34" charset="0"/>
              </a:rPr>
              <a:t>Absolute Barbecues is the top restaurant at ₹0.67M</a:t>
            </a:r>
            <a:endParaRPr lang="en-US" sz="3000" dirty="0">
              <a:solidFill>
                <a:srgbClr val="FF3300"/>
              </a:solidFill>
              <a:latin typeface="Segoe UI Semibold" panose="020B0702040204020203" pitchFamily="34" charset="0"/>
              <a:cs typeface="Segoe UI Semibold" panose="020B0702040204020203" pitchFamily="34" charset="0"/>
            </a:endParaRPr>
          </a:p>
        </p:txBody>
      </p:sp>
      <p:sp>
        <p:nvSpPr>
          <p:cNvPr id="3" name="Text 1"/>
          <p:cNvSpPr/>
          <p:nvPr/>
        </p:nvSpPr>
        <p:spPr>
          <a:xfrm>
            <a:off x="836556" y="5361381"/>
            <a:ext cx="2844729" cy="391120"/>
          </a:xfrm>
          <a:prstGeom prst="rect">
            <a:avLst/>
          </a:prstGeom>
          <a:noFill/>
          <a:ln/>
        </p:spPr>
        <p:txBody>
          <a:bodyPr wrap="none" lIns="0" tIns="0" rIns="0" bIns="0" rtlCol="0" anchor="t"/>
          <a:lstStyle/>
          <a:p>
            <a:pPr marL="0" indent="0" algn="l">
              <a:lnSpc>
                <a:spcPct val="117000"/>
              </a:lnSpc>
              <a:buNone/>
            </a:pPr>
            <a:r>
              <a:rPr lang="en-US" sz="2200" dirty="0">
                <a:solidFill>
                  <a:srgbClr val="FF3300"/>
                </a:solidFill>
                <a:latin typeface="Segoe UI Semibold" panose="020B0702040204020203" pitchFamily="34" charset="0"/>
                <a:ea typeface="Host Grotesk Medium" pitchFamily="34" charset="-122"/>
                <a:cs typeface="Segoe UI Semibold" panose="020B0702040204020203" pitchFamily="34" charset="0"/>
              </a:rPr>
              <a:t>Absolute Barbecues</a:t>
            </a:r>
            <a:endParaRPr lang="en-US" sz="2200" dirty="0">
              <a:solidFill>
                <a:srgbClr val="FF3300"/>
              </a:solidFill>
              <a:latin typeface="Segoe UI Semibold" panose="020B0702040204020203" pitchFamily="34" charset="0"/>
              <a:cs typeface="Segoe UI Semibold" panose="020B0702040204020203" pitchFamily="34" charset="0"/>
            </a:endParaRPr>
          </a:p>
        </p:txBody>
      </p:sp>
      <p:sp>
        <p:nvSpPr>
          <p:cNvPr id="4" name="Text 2"/>
          <p:cNvSpPr/>
          <p:nvPr/>
        </p:nvSpPr>
        <p:spPr>
          <a:xfrm>
            <a:off x="739585" y="5925672"/>
            <a:ext cx="2844729" cy="630932"/>
          </a:xfrm>
          <a:prstGeom prst="rect">
            <a:avLst/>
          </a:prstGeom>
          <a:noFill/>
          <a:ln/>
        </p:spPr>
        <p:txBody>
          <a:bodyPr wrap="none" lIns="0" tIns="0" rIns="0" bIns="0" rtlCol="0" anchor="t"/>
          <a:lstStyle/>
          <a:p>
            <a:pPr marL="0" indent="0" algn="l">
              <a:lnSpc>
                <a:spcPct val="90000"/>
              </a:lnSpc>
              <a:buNone/>
            </a:pPr>
            <a:r>
              <a:rPr lang="en-US" sz="4600" kern="100" spc="-46" dirty="0">
                <a:solidFill>
                  <a:srgbClr val="FF3300"/>
                </a:solidFill>
                <a:latin typeface="Segoe UI Semibold" panose="020B0702040204020203" pitchFamily="34" charset="0"/>
                <a:ea typeface="Host Grotesk Light" pitchFamily="34" charset="-122"/>
                <a:cs typeface="Segoe UI Semibold" panose="020B0702040204020203" pitchFamily="34" charset="0"/>
              </a:rPr>
              <a:t>₹668,689</a:t>
            </a:r>
            <a:endParaRPr lang="en-US" sz="4600" dirty="0">
              <a:solidFill>
                <a:srgbClr val="FF3300"/>
              </a:solidFill>
              <a:latin typeface="Segoe UI Semibold" panose="020B0702040204020203" pitchFamily="34" charset="0"/>
              <a:cs typeface="Segoe UI Semibold" panose="020B0702040204020203" pitchFamily="34" charset="0"/>
            </a:endParaRPr>
          </a:p>
        </p:txBody>
      </p:sp>
      <p:sp>
        <p:nvSpPr>
          <p:cNvPr id="5" name="Text 3"/>
          <p:cNvSpPr/>
          <p:nvPr/>
        </p:nvSpPr>
        <p:spPr>
          <a:xfrm>
            <a:off x="4472448" y="5385791"/>
            <a:ext cx="2844729" cy="391120"/>
          </a:xfrm>
          <a:prstGeom prst="rect">
            <a:avLst/>
          </a:prstGeom>
          <a:noFill/>
          <a:ln/>
        </p:spPr>
        <p:txBody>
          <a:bodyPr wrap="none" lIns="0" tIns="0" rIns="0" bIns="0" rtlCol="0" anchor="t"/>
          <a:lstStyle/>
          <a:p>
            <a:pPr marL="0" indent="0" algn="l">
              <a:lnSpc>
                <a:spcPct val="117000"/>
              </a:lnSpc>
              <a:buNone/>
            </a:pPr>
            <a:r>
              <a:rPr lang="en-US" sz="2200" dirty="0">
                <a:solidFill>
                  <a:srgbClr val="FF3300"/>
                </a:solidFill>
                <a:latin typeface="Segoe UI Semibold" panose="020B0702040204020203" pitchFamily="34" charset="0"/>
                <a:ea typeface="Host Grotesk Medium" pitchFamily="34" charset="-122"/>
                <a:cs typeface="Segoe UI Semibold" panose="020B0702040204020203" pitchFamily="34" charset="0"/>
              </a:rPr>
              <a:t>Saravana Bhavan</a:t>
            </a:r>
            <a:endParaRPr lang="en-US" sz="2200" dirty="0">
              <a:solidFill>
                <a:srgbClr val="FF3300"/>
              </a:solidFill>
              <a:latin typeface="Segoe UI Semibold" panose="020B0702040204020203" pitchFamily="34" charset="0"/>
              <a:cs typeface="Segoe UI Semibold" panose="020B0702040204020203" pitchFamily="34" charset="0"/>
            </a:endParaRPr>
          </a:p>
        </p:txBody>
      </p:sp>
      <p:sp>
        <p:nvSpPr>
          <p:cNvPr id="6" name="Text 4"/>
          <p:cNvSpPr/>
          <p:nvPr/>
        </p:nvSpPr>
        <p:spPr>
          <a:xfrm>
            <a:off x="4448282" y="5836887"/>
            <a:ext cx="3149521" cy="295275"/>
          </a:xfrm>
          <a:prstGeom prst="rect">
            <a:avLst/>
          </a:prstGeom>
          <a:noFill/>
          <a:ln/>
        </p:spPr>
        <p:txBody>
          <a:bodyPr wrap="none" lIns="0" tIns="0" rIns="0" bIns="0" rtlCol="0" anchor="t"/>
          <a:lstStyle/>
          <a:p>
            <a:pPr marL="0" indent="0" algn="l">
              <a:lnSpc>
                <a:spcPct val="129000"/>
              </a:lnSpc>
              <a:buNone/>
            </a:pPr>
            <a:r>
              <a:rPr lang="en-US" sz="2800" dirty="0">
                <a:solidFill>
                  <a:srgbClr val="FF3300"/>
                </a:solidFill>
                <a:latin typeface="Segoe UI Semibold" panose="020B0702040204020203" pitchFamily="34" charset="0"/>
                <a:ea typeface="Host Grotesk" pitchFamily="34" charset="-122"/>
                <a:cs typeface="Segoe UI Semibold" panose="020B0702040204020203" pitchFamily="34" charset="0"/>
              </a:rPr>
              <a:t>₹636,128</a:t>
            </a: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 a close second</a:t>
            </a:r>
            <a:endParaRPr lang="en-US" sz="1500" dirty="0">
              <a:solidFill>
                <a:srgbClr val="FF3300"/>
              </a:solidFill>
              <a:latin typeface="Segoe UI Semibold" panose="020B0702040204020203" pitchFamily="34" charset="0"/>
              <a:cs typeface="Segoe UI Semibold" panose="020B0702040204020203" pitchFamily="34" charset="0"/>
            </a:endParaRPr>
          </a:p>
        </p:txBody>
      </p:sp>
      <p:sp>
        <p:nvSpPr>
          <p:cNvPr id="7" name="Text 5"/>
          <p:cNvSpPr/>
          <p:nvPr/>
        </p:nvSpPr>
        <p:spPr>
          <a:xfrm>
            <a:off x="8276945" y="5385792"/>
            <a:ext cx="2844729" cy="391120"/>
          </a:xfrm>
          <a:prstGeom prst="rect">
            <a:avLst/>
          </a:prstGeom>
          <a:noFill/>
          <a:ln/>
        </p:spPr>
        <p:txBody>
          <a:bodyPr wrap="none" lIns="0" tIns="0" rIns="0" bIns="0" rtlCol="0" anchor="t"/>
          <a:lstStyle/>
          <a:p>
            <a:pPr marL="0" indent="0" algn="l">
              <a:lnSpc>
                <a:spcPct val="117000"/>
              </a:lnSpc>
              <a:buNone/>
            </a:pPr>
            <a:r>
              <a:rPr lang="en-US" sz="2200" dirty="0">
                <a:solidFill>
                  <a:srgbClr val="FF3300"/>
                </a:solidFill>
                <a:latin typeface="Segoe UI Semibold" panose="020B0702040204020203" pitchFamily="34" charset="0"/>
                <a:ea typeface="Host Grotesk Medium" pitchFamily="34" charset="-122"/>
                <a:cs typeface="Segoe UI Semibold" panose="020B0702040204020203" pitchFamily="34" charset="0"/>
              </a:rPr>
              <a:t>Bukhara</a:t>
            </a:r>
            <a:endParaRPr lang="en-US" sz="2200" dirty="0">
              <a:solidFill>
                <a:srgbClr val="FF3300"/>
              </a:solidFill>
              <a:latin typeface="Segoe UI Semibold" panose="020B0702040204020203" pitchFamily="34" charset="0"/>
              <a:cs typeface="Segoe UI Semibold" panose="020B0702040204020203" pitchFamily="34" charset="0"/>
            </a:endParaRPr>
          </a:p>
        </p:txBody>
      </p:sp>
      <p:sp>
        <p:nvSpPr>
          <p:cNvPr id="8" name="Text 6"/>
          <p:cNvSpPr/>
          <p:nvPr/>
        </p:nvSpPr>
        <p:spPr>
          <a:xfrm>
            <a:off x="8169942" y="5972314"/>
            <a:ext cx="2844729" cy="391120"/>
          </a:xfrm>
          <a:prstGeom prst="rect">
            <a:avLst/>
          </a:prstGeom>
          <a:noFill/>
          <a:ln/>
        </p:spPr>
        <p:txBody>
          <a:bodyPr wrap="square" lIns="0" tIns="0" rIns="0" bIns="0" rtlCol="0" anchor="t">
            <a:normAutofit/>
          </a:bodyPr>
          <a:lstStyle/>
          <a:p>
            <a:pPr>
              <a:lnSpc>
                <a:spcPct val="129000"/>
              </a:lnSpc>
            </a:pPr>
            <a:r>
              <a:rPr lang="en-US" sz="2000" dirty="0">
                <a:solidFill>
                  <a:srgbClr val="FF3300"/>
                </a:solidFill>
                <a:latin typeface="Segoe UI Semibold" panose="020B0702040204020203" pitchFamily="34" charset="0"/>
                <a:ea typeface="Host Grotesk" pitchFamily="34" charset="-122"/>
                <a:cs typeface="Segoe UI Semibold" panose="020B0702040204020203" pitchFamily="34" charset="0"/>
              </a:rPr>
              <a:t>₹398,788 </a:t>
            </a: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 at Third Place</a:t>
            </a:r>
            <a:endParaRPr lang="en-US" sz="1500" dirty="0">
              <a:solidFill>
                <a:srgbClr val="FF3300"/>
              </a:solidFill>
              <a:latin typeface="Segoe UI Semibold" panose="020B0702040204020203" pitchFamily="34" charset="0"/>
              <a:cs typeface="Segoe UI Semibold" panose="020B0702040204020203" pitchFamily="34" charset="0"/>
            </a:endParaRPr>
          </a:p>
        </p:txBody>
      </p:sp>
      <p:cxnSp>
        <p:nvCxnSpPr>
          <p:cNvPr id="11" name="Straight Connector 10">
            <a:extLst>
              <a:ext uri="{FF2B5EF4-FFF2-40B4-BE49-F238E27FC236}">
                <a16:creationId xmlns:a16="http://schemas.microsoft.com/office/drawing/2014/main" id="{98CF3CDB-1951-368F-0E27-A4B904EA7212}"/>
              </a:ext>
            </a:extLst>
          </p:cNvPr>
          <p:cNvCxnSpPr>
            <a:cxnSpLocks/>
          </p:cNvCxnSpPr>
          <p:nvPr/>
        </p:nvCxnSpPr>
        <p:spPr>
          <a:xfrm>
            <a:off x="522682" y="1264595"/>
            <a:ext cx="11146635" cy="0"/>
          </a:xfrm>
          <a:prstGeom prst="line">
            <a:avLst/>
          </a:prstGeom>
        </p:spPr>
        <p:style>
          <a:lnRef idx="2">
            <a:schemeClr val="accent2"/>
          </a:lnRef>
          <a:fillRef idx="0">
            <a:schemeClr val="accent2"/>
          </a:fillRef>
          <a:effectRef idx="1">
            <a:schemeClr val="accent2"/>
          </a:effectRef>
          <a:fontRef idx="minor">
            <a:schemeClr val="tx1"/>
          </a:fontRef>
        </p:style>
      </p:cxnSp>
      <p:pic>
        <p:nvPicPr>
          <p:cNvPr id="13" name="Picture 12">
            <a:extLst>
              <a:ext uri="{FF2B5EF4-FFF2-40B4-BE49-F238E27FC236}">
                <a16:creationId xmlns:a16="http://schemas.microsoft.com/office/drawing/2014/main" id="{182FD886-D70F-BDDE-F425-FD0B9D4C09F8}"/>
              </a:ext>
            </a:extLst>
          </p:cNvPr>
          <p:cNvPicPr>
            <a:picLocks noChangeAspect="1"/>
          </p:cNvPicPr>
          <p:nvPr/>
        </p:nvPicPr>
        <p:blipFill>
          <a:blip r:embed="rId3"/>
          <a:stretch>
            <a:fillRect/>
          </a:stretch>
        </p:blipFill>
        <p:spPr>
          <a:xfrm>
            <a:off x="739584" y="1466280"/>
            <a:ext cx="10712831" cy="3693416"/>
          </a:xfrm>
          <a:prstGeom prst="rect">
            <a:avLst/>
          </a:prstGeom>
        </p:spPr>
      </p:pic>
      <p:sp>
        <p:nvSpPr>
          <p:cNvPr id="15" name="Rectangle: Rounded Corners 14">
            <a:extLst>
              <a:ext uri="{FF2B5EF4-FFF2-40B4-BE49-F238E27FC236}">
                <a16:creationId xmlns:a16="http://schemas.microsoft.com/office/drawing/2014/main" id="{635FD8F1-04BA-1DEC-7FAB-925D9721D3D4}"/>
              </a:ext>
            </a:extLst>
          </p:cNvPr>
          <p:cNvSpPr/>
          <p:nvPr/>
        </p:nvSpPr>
        <p:spPr>
          <a:xfrm>
            <a:off x="11044518" y="6517341"/>
            <a:ext cx="1147482" cy="34065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rgbClr val="FF3300"/>
                </a:solidFill>
                <a:latin typeface="Arial Black" panose="020B0A04020102020204" pitchFamily="34" charset="0"/>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FF3300"/>
                </a:solidFill>
                <a:latin typeface="Segoe UI Semibold" panose="020B0702040204020203" pitchFamily="34" charset="0"/>
                <a:ea typeface="Host Grotesk Medium" pitchFamily="34" charset="-122"/>
                <a:cs typeface="Segoe UI Semibold" panose="020B0702040204020203" pitchFamily="34" charset="0"/>
              </a:rPr>
              <a:t>CORRELATION ANALYSIS</a:t>
            </a:r>
            <a:endParaRPr lang="en-US" sz="1100" dirty="0">
              <a:solidFill>
                <a:srgbClr val="FF3300"/>
              </a:solidFill>
              <a:latin typeface="Segoe UI Semibold" panose="020B0702040204020203" pitchFamily="34" charset="0"/>
              <a:cs typeface="Segoe UI Semibold" panose="020B0702040204020203" pitchFamily="34" charset="0"/>
            </a:endParaRPr>
          </a:p>
        </p:txBody>
      </p:sp>
      <p:sp>
        <p:nvSpPr>
          <p:cNvPr id="3" name="Text 1"/>
          <p:cNvSpPr/>
          <p:nvPr/>
        </p:nvSpPr>
        <p:spPr>
          <a:xfrm>
            <a:off x="609585" y="986115"/>
            <a:ext cx="10972526" cy="853281"/>
          </a:xfrm>
          <a:prstGeom prst="rect">
            <a:avLst/>
          </a:prstGeom>
          <a:noFill/>
          <a:ln/>
        </p:spPr>
        <p:txBody>
          <a:bodyPr wrap="square" lIns="0" tIns="0" rIns="0" bIns="0" rtlCol="0" anchor="t">
            <a:normAutofit/>
          </a:bodyPr>
          <a:lstStyle/>
          <a:p>
            <a:pPr marL="0" indent="0" algn="l">
              <a:lnSpc>
                <a:spcPct val="93000"/>
              </a:lnSpc>
              <a:buNone/>
            </a:pPr>
            <a:r>
              <a:rPr lang="en-US" sz="3000" kern="100" spc="-15" dirty="0">
                <a:solidFill>
                  <a:srgbClr val="FF3300"/>
                </a:solidFill>
                <a:latin typeface="Segoe UI Semibold" panose="020B0702040204020203" pitchFamily="34" charset="0"/>
                <a:ea typeface="Host Grotesk Light" pitchFamily="34" charset="-122"/>
                <a:cs typeface="Segoe UI Semibold" panose="020B0702040204020203" pitchFamily="34" charset="0"/>
              </a:rPr>
              <a:t>Longer trips take longer, while ratings barely respond to delivery time</a:t>
            </a:r>
            <a:endParaRPr lang="en-US" sz="3000" dirty="0">
              <a:solidFill>
                <a:srgbClr val="FF3300"/>
              </a:solidFill>
              <a:latin typeface="Segoe UI Semibold" panose="020B0702040204020203" pitchFamily="34" charset="0"/>
              <a:cs typeface="Segoe UI Semibold" panose="020B0702040204020203" pitchFamily="34" charset="0"/>
            </a:endParaRPr>
          </a:p>
        </p:txBody>
      </p:sp>
      <p:sp>
        <p:nvSpPr>
          <p:cNvPr id="5" name="Text 3"/>
          <p:cNvSpPr/>
          <p:nvPr/>
        </p:nvSpPr>
        <p:spPr>
          <a:xfrm>
            <a:off x="609585" y="2373749"/>
            <a:ext cx="5257668" cy="391120"/>
          </a:xfrm>
          <a:prstGeom prst="rect">
            <a:avLst/>
          </a:prstGeom>
          <a:noFill/>
          <a:ln/>
        </p:spPr>
        <p:txBody>
          <a:bodyPr wrap="none" lIns="0" tIns="0" rIns="0" bIns="0" rtlCol="0" anchor="t"/>
          <a:lstStyle/>
          <a:p>
            <a:pPr marL="0" indent="0" algn="l">
              <a:lnSpc>
                <a:spcPct val="117000"/>
              </a:lnSpc>
              <a:buNone/>
            </a:pPr>
            <a:r>
              <a:rPr lang="en-US" sz="2200" dirty="0">
                <a:solidFill>
                  <a:srgbClr val="FF3300"/>
                </a:solidFill>
                <a:latin typeface="Segoe UI Semibold" panose="020B0702040204020203" pitchFamily="34" charset="0"/>
                <a:ea typeface="Host Grotesk Medium" pitchFamily="34" charset="-122"/>
                <a:cs typeface="Segoe UI Semibold" panose="020B0702040204020203" pitchFamily="34" charset="0"/>
              </a:rPr>
              <a:t>Distance and delivery time</a:t>
            </a:r>
            <a:endParaRPr lang="en-US" sz="2200" dirty="0">
              <a:solidFill>
                <a:srgbClr val="FF3300"/>
              </a:solidFill>
              <a:latin typeface="Segoe UI Semibold" panose="020B0702040204020203" pitchFamily="34" charset="0"/>
              <a:cs typeface="Segoe UI Semibold" panose="020B0702040204020203" pitchFamily="34" charset="0"/>
            </a:endParaRPr>
          </a:p>
        </p:txBody>
      </p:sp>
      <p:sp>
        <p:nvSpPr>
          <p:cNvPr id="6" name="Text 4"/>
          <p:cNvSpPr/>
          <p:nvPr/>
        </p:nvSpPr>
        <p:spPr>
          <a:xfrm>
            <a:off x="609585" y="2979880"/>
            <a:ext cx="5257668" cy="1042392"/>
          </a:xfrm>
          <a:prstGeom prst="rect">
            <a:avLst/>
          </a:prstGeom>
          <a:noFill/>
          <a:ln/>
        </p:spPr>
        <p:txBody>
          <a:bodyPr wrap="none" lIns="0" tIns="0" rIns="0" bIns="0" rtlCol="0" anchor="t"/>
          <a:lstStyle/>
          <a:p>
            <a:pPr marL="0" indent="0" algn="l">
              <a:lnSpc>
                <a:spcPct val="90000"/>
              </a:lnSpc>
              <a:buNone/>
            </a:pPr>
            <a:r>
              <a:rPr lang="en-US" sz="7600" kern="100" spc="-76" dirty="0">
                <a:solidFill>
                  <a:srgbClr val="FF3300"/>
                </a:solidFill>
                <a:latin typeface="Segoe UI Semibold" panose="020B0702040204020203" pitchFamily="34" charset="0"/>
                <a:ea typeface="Host Grotesk Light" pitchFamily="34" charset="-122"/>
                <a:cs typeface="Segoe UI Semibold" panose="020B0702040204020203" pitchFamily="34" charset="0"/>
              </a:rPr>
              <a:t>0.57</a:t>
            </a:r>
            <a:endParaRPr lang="en-US" sz="7600" dirty="0">
              <a:solidFill>
                <a:srgbClr val="FF3300"/>
              </a:solidFill>
              <a:latin typeface="Segoe UI Semibold" panose="020B0702040204020203" pitchFamily="34" charset="0"/>
              <a:cs typeface="Segoe UI Semibold" panose="020B0702040204020203" pitchFamily="34" charset="0"/>
            </a:endParaRPr>
          </a:p>
        </p:txBody>
      </p:sp>
      <p:sp>
        <p:nvSpPr>
          <p:cNvPr id="7" name="Text 5"/>
          <p:cNvSpPr/>
          <p:nvPr/>
        </p:nvSpPr>
        <p:spPr>
          <a:xfrm>
            <a:off x="609585" y="4182864"/>
            <a:ext cx="5486263" cy="295275"/>
          </a:xfrm>
          <a:prstGeom prst="rect">
            <a:avLst/>
          </a:prstGeom>
          <a:noFill/>
          <a:ln/>
        </p:spPr>
        <p:txBody>
          <a:bodyPr wrap="none" lIns="0" tIns="0" rIns="0" bIns="0" rtlCol="0" anchor="t"/>
          <a:lstStyle/>
          <a:p>
            <a:pPr marL="0" indent="0" algn="l">
              <a:lnSpc>
                <a:spcPct val="129000"/>
              </a:lnSpc>
              <a:buNone/>
            </a:pP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Positive correlation</a:t>
            </a:r>
            <a:endParaRPr lang="en-US" sz="1500" dirty="0">
              <a:solidFill>
                <a:srgbClr val="FF3300"/>
              </a:solidFill>
              <a:latin typeface="Segoe UI Semibold" panose="020B0702040204020203" pitchFamily="34" charset="0"/>
              <a:cs typeface="Segoe UI Semibold" panose="020B0702040204020203" pitchFamily="34" charset="0"/>
            </a:endParaRPr>
          </a:p>
        </p:txBody>
      </p:sp>
      <p:sp>
        <p:nvSpPr>
          <p:cNvPr id="8" name="Text 6"/>
          <p:cNvSpPr/>
          <p:nvPr/>
        </p:nvSpPr>
        <p:spPr>
          <a:xfrm>
            <a:off x="6324442" y="2373749"/>
            <a:ext cx="5257668" cy="391120"/>
          </a:xfrm>
          <a:prstGeom prst="rect">
            <a:avLst/>
          </a:prstGeom>
          <a:noFill/>
          <a:ln/>
        </p:spPr>
        <p:txBody>
          <a:bodyPr wrap="none" lIns="0" tIns="0" rIns="0" bIns="0" rtlCol="0" anchor="t"/>
          <a:lstStyle/>
          <a:p>
            <a:pPr marL="0" indent="0" algn="l">
              <a:lnSpc>
                <a:spcPct val="117000"/>
              </a:lnSpc>
              <a:buNone/>
            </a:pPr>
            <a:r>
              <a:rPr lang="en-US" sz="2200" dirty="0">
                <a:solidFill>
                  <a:srgbClr val="FF3300"/>
                </a:solidFill>
                <a:latin typeface="Segoe UI Semibold" panose="020B0702040204020203" pitchFamily="34" charset="0"/>
                <a:ea typeface="Host Grotesk Medium" pitchFamily="34" charset="-122"/>
                <a:cs typeface="Segoe UI Semibold" panose="020B0702040204020203" pitchFamily="34" charset="0"/>
              </a:rPr>
              <a:t>Delivery time and rating</a:t>
            </a:r>
            <a:endParaRPr lang="en-US" sz="2200" dirty="0">
              <a:solidFill>
                <a:srgbClr val="FF3300"/>
              </a:solidFill>
              <a:latin typeface="Segoe UI Semibold" panose="020B0702040204020203" pitchFamily="34" charset="0"/>
              <a:cs typeface="Segoe UI Semibold" panose="020B0702040204020203" pitchFamily="34" charset="0"/>
            </a:endParaRPr>
          </a:p>
        </p:txBody>
      </p:sp>
      <p:sp>
        <p:nvSpPr>
          <p:cNvPr id="9" name="Text 7"/>
          <p:cNvSpPr/>
          <p:nvPr/>
        </p:nvSpPr>
        <p:spPr>
          <a:xfrm>
            <a:off x="6324442" y="2979880"/>
            <a:ext cx="5257668" cy="1042392"/>
          </a:xfrm>
          <a:prstGeom prst="rect">
            <a:avLst/>
          </a:prstGeom>
          <a:noFill/>
          <a:ln/>
        </p:spPr>
        <p:txBody>
          <a:bodyPr wrap="none" lIns="0" tIns="0" rIns="0" bIns="0" rtlCol="0" anchor="t"/>
          <a:lstStyle/>
          <a:p>
            <a:pPr marL="0" indent="0" algn="l">
              <a:lnSpc>
                <a:spcPct val="90000"/>
              </a:lnSpc>
              <a:buNone/>
            </a:pPr>
            <a:r>
              <a:rPr lang="en-US" sz="7600" kern="100" spc="-76" dirty="0">
                <a:solidFill>
                  <a:srgbClr val="FF3300"/>
                </a:solidFill>
                <a:latin typeface="Segoe UI Semibold" panose="020B0702040204020203" pitchFamily="34" charset="0"/>
                <a:ea typeface="Host Grotesk Light" pitchFamily="34" charset="-122"/>
                <a:cs typeface="Segoe UI Semibold" panose="020B0702040204020203" pitchFamily="34" charset="0"/>
              </a:rPr>
              <a:t>-0.10</a:t>
            </a:r>
            <a:endParaRPr lang="en-US" sz="7600" dirty="0">
              <a:solidFill>
                <a:srgbClr val="FF3300"/>
              </a:solidFill>
              <a:latin typeface="Segoe UI Semibold" panose="020B0702040204020203" pitchFamily="34" charset="0"/>
              <a:cs typeface="Segoe UI Semibold" panose="020B0702040204020203" pitchFamily="34" charset="0"/>
            </a:endParaRPr>
          </a:p>
        </p:txBody>
      </p:sp>
      <p:sp>
        <p:nvSpPr>
          <p:cNvPr id="10" name="Text 8"/>
          <p:cNvSpPr/>
          <p:nvPr/>
        </p:nvSpPr>
        <p:spPr>
          <a:xfrm>
            <a:off x="6324442" y="4182864"/>
            <a:ext cx="5257668" cy="295275"/>
          </a:xfrm>
          <a:prstGeom prst="rect">
            <a:avLst/>
          </a:prstGeom>
          <a:noFill/>
          <a:ln/>
        </p:spPr>
        <p:txBody>
          <a:bodyPr wrap="none" lIns="0" tIns="0" rIns="0" bIns="0" rtlCol="0" anchor="t"/>
          <a:lstStyle/>
          <a:p>
            <a:pPr marL="0" indent="0" algn="l">
              <a:lnSpc>
                <a:spcPct val="129000"/>
              </a:lnSpc>
              <a:buNone/>
            </a:pP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Weak negative correlation</a:t>
            </a:r>
            <a:endParaRPr lang="en-US" sz="1500" dirty="0">
              <a:solidFill>
                <a:srgbClr val="FF3300"/>
              </a:solidFill>
              <a:latin typeface="Segoe UI Semibold" panose="020B0702040204020203" pitchFamily="34" charset="0"/>
              <a:cs typeface="Segoe UI Semibold" panose="020B0702040204020203" pitchFamily="34" charset="0"/>
            </a:endParaRPr>
          </a:p>
        </p:txBody>
      </p:sp>
      <p:sp>
        <p:nvSpPr>
          <p:cNvPr id="11" name="Shape 9"/>
          <p:cNvSpPr/>
          <p:nvPr/>
        </p:nvSpPr>
        <p:spPr>
          <a:xfrm>
            <a:off x="609585" y="4694039"/>
            <a:ext cx="10972526" cy="625475"/>
          </a:xfrm>
          <a:prstGeom prst="rect">
            <a:avLst/>
          </a:prstGeom>
          <a:solidFill>
            <a:schemeClr val="bg1"/>
          </a:solidFill>
          <a:ln w="19050">
            <a:solidFill>
              <a:srgbClr val="FF3300">
                <a:alpha val="24000"/>
              </a:srgbClr>
            </a:solidFill>
            <a:prstDash val="solid"/>
          </a:ln>
        </p:spPr>
      </p:sp>
      <p:sp>
        <p:nvSpPr>
          <p:cNvPr id="12" name="Text 10"/>
          <p:cNvSpPr/>
          <p:nvPr/>
        </p:nvSpPr>
        <p:spPr>
          <a:xfrm>
            <a:off x="825479" y="4859139"/>
            <a:ext cx="10756631" cy="295275"/>
          </a:xfrm>
          <a:prstGeom prst="rect">
            <a:avLst/>
          </a:prstGeom>
          <a:noFill/>
          <a:ln/>
        </p:spPr>
        <p:txBody>
          <a:bodyPr wrap="none" lIns="0" tIns="0" rIns="0" bIns="0" rtlCol="0" anchor="t"/>
          <a:lstStyle/>
          <a:p>
            <a:pPr marL="0" indent="0" algn="l">
              <a:lnSpc>
                <a:spcPct val="129000"/>
              </a:lnSpc>
              <a:buNone/>
            </a:pPr>
            <a:r>
              <a:rPr lang="en-US" sz="1500" b="1" dirty="0">
                <a:solidFill>
                  <a:srgbClr val="FF3300"/>
                </a:solidFill>
                <a:latin typeface="Segoe UI Semibold" panose="020B0702040204020203" pitchFamily="34" charset="0"/>
                <a:ea typeface="Host Grotesk Bold" pitchFamily="34" charset="-122"/>
                <a:cs typeface="Segoe UI Semibold" panose="020B0702040204020203" pitchFamily="34" charset="0"/>
              </a:rPr>
              <a:t>Limit:</a:t>
            </a:r>
            <a:r>
              <a:rPr lang="en-US" sz="1500" dirty="0">
                <a:solidFill>
                  <a:srgbClr val="FF3300"/>
                </a:solidFill>
                <a:latin typeface="Segoe UI Semibold" panose="020B0702040204020203" pitchFamily="34" charset="0"/>
                <a:ea typeface="Host Grotesk" pitchFamily="34" charset="-122"/>
                <a:cs typeface="Segoe UI Semibold" panose="020B0702040204020203" pitchFamily="34" charset="0"/>
              </a:rPr>
              <a:t> These show association, not cause; traffic and prep time are not in the data.</a:t>
            </a:r>
            <a:endParaRPr lang="en-US" sz="1500" dirty="0">
              <a:solidFill>
                <a:srgbClr val="FF3300"/>
              </a:solidFill>
              <a:latin typeface="Segoe UI Semibold" panose="020B0702040204020203" pitchFamily="34" charset="0"/>
              <a:cs typeface="Segoe UI Semibold" panose="020B0702040204020203" pitchFamily="34" charset="0"/>
            </a:endParaRPr>
          </a:p>
        </p:txBody>
      </p:sp>
      <p:cxnSp>
        <p:nvCxnSpPr>
          <p:cNvPr id="16" name="Straight Connector 15">
            <a:extLst>
              <a:ext uri="{FF2B5EF4-FFF2-40B4-BE49-F238E27FC236}">
                <a16:creationId xmlns:a16="http://schemas.microsoft.com/office/drawing/2014/main" id="{3FC9AB6A-311E-05BF-FA5D-A3CAA1414537}"/>
              </a:ext>
            </a:extLst>
          </p:cNvPr>
          <p:cNvCxnSpPr>
            <a:cxnSpLocks/>
          </p:cNvCxnSpPr>
          <p:nvPr/>
        </p:nvCxnSpPr>
        <p:spPr>
          <a:xfrm>
            <a:off x="484094" y="1990165"/>
            <a:ext cx="10981765" cy="0"/>
          </a:xfrm>
          <a:prstGeom prst="line">
            <a:avLst/>
          </a:prstGeom>
          <a:ln>
            <a:solidFill>
              <a:srgbClr val="FF3300"/>
            </a:solidFill>
          </a:ln>
        </p:spPr>
        <p:style>
          <a:lnRef idx="2">
            <a:schemeClr val="accent2"/>
          </a:lnRef>
          <a:fillRef idx="0">
            <a:schemeClr val="accent2"/>
          </a:fillRef>
          <a:effectRef idx="1">
            <a:schemeClr val="accent2"/>
          </a:effectRef>
          <a:fontRef idx="minor">
            <a:schemeClr val="tx1"/>
          </a:fontRef>
        </p:style>
      </p:cxnSp>
      <p:cxnSp>
        <p:nvCxnSpPr>
          <p:cNvPr id="20" name="Straight Connector 19">
            <a:extLst>
              <a:ext uri="{FF2B5EF4-FFF2-40B4-BE49-F238E27FC236}">
                <a16:creationId xmlns:a16="http://schemas.microsoft.com/office/drawing/2014/main" id="{C3138D66-045B-1DE9-15D3-F9E588AA7FBB}"/>
              </a:ext>
            </a:extLst>
          </p:cNvPr>
          <p:cNvCxnSpPr/>
          <p:nvPr/>
        </p:nvCxnSpPr>
        <p:spPr>
          <a:xfrm>
            <a:off x="5719482" y="2373749"/>
            <a:ext cx="0" cy="2104390"/>
          </a:xfrm>
          <a:prstGeom prst="line">
            <a:avLst/>
          </a:prstGeom>
          <a:ln>
            <a:solidFill>
              <a:srgbClr val="FF3300"/>
            </a:solidFill>
          </a:ln>
        </p:spPr>
        <p:style>
          <a:lnRef idx="2">
            <a:schemeClr val="accent2"/>
          </a:lnRef>
          <a:fillRef idx="0">
            <a:schemeClr val="accent2"/>
          </a:fillRef>
          <a:effectRef idx="1">
            <a:schemeClr val="accent2"/>
          </a:effectRef>
          <a:fontRef idx="minor">
            <a:schemeClr val="tx1"/>
          </a:fontRef>
        </p:style>
      </p:cxnSp>
      <p:sp>
        <p:nvSpPr>
          <p:cNvPr id="22" name="Rectangle: Rounded Corners 21">
            <a:extLst>
              <a:ext uri="{FF2B5EF4-FFF2-40B4-BE49-F238E27FC236}">
                <a16:creationId xmlns:a16="http://schemas.microsoft.com/office/drawing/2014/main" id="{08B6DFE4-2B0A-F778-BCCF-B8C907F0DC8C}"/>
              </a:ext>
            </a:extLst>
          </p:cNvPr>
          <p:cNvSpPr/>
          <p:nvPr/>
        </p:nvSpPr>
        <p:spPr>
          <a:xfrm>
            <a:off x="11044518" y="6536256"/>
            <a:ext cx="1147482" cy="34065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rgbClr val="FF3300"/>
                </a:solidFill>
                <a:latin typeface="Arial Black" panose="020B0A04020102020204" pitchFamily="34" charset="0"/>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830025AF-C9FD-FC0D-B1B9-0820873F257A}"/>
              </a:ext>
            </a:extLst>
          </p:cNvPr>
          <p:cNvSpPr txBox="1"/>
          <p:nvPr/>
        </p:nvSpPr>
        <p:spPr>
          <a:xfrm>
            <a:off x="544749" y="651913"/>
            <a:ext cx="2607013" cy="553998"/>
          </a:xfrm>
          <a:prstGeom prst="rect">
            <a:avLst/>
          </a:prstGeom>
          <a:noFill/>
        </p:spPr>
        <p:txBody>
          <a:bodyPr wrap="square" rtlCol="0">
            <a:spAutoFit/>
          </a:bodyPr>
          <a:lstStyle/>
          <a:p>
            <a:r>
              <a:rPr lang="en-IN" sz="3000" dirty="0">
                <a:solidFill>
                  <a:srgbClr val="FF3300"/>
                </a:solidFill>
                <a:latin typeface="Segoe UI Semibold" panose="020B0702040204020203" pitchFamily="34" charset="0"/>
                <a:cs typeface="Segoe UI Semibold" panose="020B0702040204020203" pitchFamily="34" charset="0"/>
              </a:rPr>
              <a:t>Conclusion</a:t>
            </a:r>
          </a:p>
        </p:txBody>
      </p:sp>
      <p:cxnSp>
        <p:nvCxnSpPr>
          <p:cNvPr id="28" name="Straight Connector 27">
            <a:extLst>
              <a:ext uri="{FF2B5EF4-FFF2-40B4-BE49-F238E27FC236}">
                <a16:creationId xmlns:a16="http://schemas.microsoft.com/office/drawing/2014/main" id="{A4D2F7FF-6797-36E9-8912-9B63B824E02D}"/>
              </a:ext>
            </a:extLst>
          </p:cNvPr>
          <p:cNvCxnSpPr>
            <a:cxnSpLocks/>
          </p:cNvCxnSpPr>
          <p:nvPr/>
        </p:nvCxnSpPr>
        <p:spPr>
          <a:xfrm>
            <a:off x="522682" y="1264595"/>
            <a:ext cx="11146635" cy="0"/>
          </a:xfrm>
          <a:prstGeom prst="line">
            <a:avLst/>
          </a:prstGeom>
        </p:spPr>
        <p:style>
          <a:lnRef idx="2">
            <a:schemeClr val="accent2"/>
          </a:lnRef>
          <a:fillRef idx="0">
            <a:schemeClr val="accent2"/>
          </a:fillRef>
          <a:effectRef idx="1">
            <a:schemeClr val="accent2"/>
          </a:effectRef>
          <a:fontRef idx="minor">
            <a:schemeClr val="tx1"/>
          </a:fontRef>
        </p:style>
      </p:cxnSp>
      <p:sp>
        <p:nvSpPr>
          <p:cNvPr id="30" name="TextBox 29">
            <a:extLst>
              <a:ext uri="{FF2B5EF4-FFF2-40B4-BE49-F238E27FC236}">
                <a16:creationId xmlns:a16="http://schemas.microsoft.com/office/drawing/2014/main" id="{986300D2-DACC-6DE2-C054-2198A2F033B7}"/>
              </a:ext>
            </a:extLst>
          </p:cNvPr>
          <p:cNvSpPr txBox="1"/>
          <p:nvPr/>
        </p:nvSpPr>
        <p:spPr>
          <a:xfrm>
            <a:off x="544749" y="1367135"/>
            <a:ext cx="11124568" cy="707886"/>
          </a:xfrm>
          <a:prstGeom prst="rect">
            <a:avLst/>
          </a:prstGeom>
          <a:noFill/>
        </p:spPr>
        <p:txBody>
          <a:bodyPr wrap="square" rtlCol="0">
            <a:spAutoFit/>
          </a:bodyPr>
          <a:lstStyle/>
          <a:p>
            <a:r>
              <a:rPr lang="en-IN" sz="2000" dirty="0">
                <a:solidFill>
                  <a:srgbClr val="FF3300"/>
                </a:solidFill>
                <a:latin typeface="Segoe UI Semibold" panose="020B0702040204020203" pitchFamily="34" charset="0"/>
                <a:cs typeface="Segoe UI Semibold" panose="020B0702040204020203" pitchFamily="34" charset="0"/>
              </a:rPr>
              <a:t>The analysis of 50,000 food delivery orders highlights revenue patterns across cities, restaurants, and food categories, while exploring delivery efficiency and customer satisfaction.</a:t>
            </a:r>
          </a:p>
        </p:txBody>
      </p:sp>
      <p:sp>
        <p:nvSpPr>
          <p:cNvPr id="32" name="TextBox 31">
            <a:extLst>
              <a:ext uri="{FF2B5EF4-FFF2-40B4-BE49-F238E27FC236}">
                <a16:creationId xmlns:a16="http://schemas.microsoft.com/office/drawing/2014/main" id="{CD08075B-EFF1-2442-3547-83BC659A96F1}"/>
              </a:ext>
            </a:extLst>
          </p:cNvPr>
          <p:cNvSpPr txBox="1"/>
          <p:nvPr/>
        </p:nvSpPr>
        <p:spPr>
          <a:xfrm>
            <a:off x="632298" y="2256817"/>
            <a:ext cx="2626467" cy="461665"/>
          </a:xfrm>
          <a:prstGeom prst="rect">
            <a:avLst/>
          </a:prstGeom>
          <a:noFill/>
        </p:spPr>
        <p:txBody>
          <a:bodyPr wrap="square" rtlCol="0">
            <a:spAutoFit/>
          </a:bodyPr>
          <a:lstStyle/>
          <a:p>
            <a:r>
              <a:rPr lang="en-IN" sz="2400" u="sng" dirty="0">
                <a:solidFill>
                  <a:srgbClr val="FF3300"/>
                </a:solidFill>
                <a:latin typeface="Segoe UI Semibold" panose="020B0702040204020203" pitchFamily="34" charset="0"/>
                <a:cs typeface="Segoe UI Semibold" panose="020B0702040204020203" pitchFamily="34" charset="0"/>
              </a:rPr>
              <a:t>Key Takeaways</a:t>
            </a:r>
          </a:p>
        </p:txBody>
      </p:sp>
      <p:sp>
        <p:nvSpPr>
          <p:cNvPr id="34" name="TextBox 33">
            <a:extLst>
              <a:ext uri="{FF2B5EF4-FFF2-40B4-BE49-F238E27FC236}">
                <a16:creationId xmlns:a16="http://schemas.microsoft.com/office/drawing/2014/main" id="{42576F57-9F9D-19E2-7FC3-7C36E7F166A8}"/>
              </a:ext>
            </a:extLst>
          </p:cNvPr>
          <p:cNvSpPr txBox="1"/>
          <p:nvPr/>
        </p:nvSpPr>
        <p:spPr>
          <a:xfrm>
            <a:off x="865762" y="3356043"/>
            <a:ext cx="9075906" cy="2804999"/>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IN" sz="2000" dirty="0">
                <a:solidFill>
                  <a:srgbClr val="FF3300"/>
                </a:solidFill>
                <a:latin typeface="Segoe UI Semibold" panose="020B0702040204020203" pitchFamily="34" charset="0"/>
                <a:cs typeface="Segoe UI Semibold" panose="020B0702040204020203" pitchFamily="34" charset="0"/>
              </a:rPr>
              <a:t>Pune leads city-wise recorded net revenue.</a:t>
            </a:r>
          </a:p>
          <a:p>
            <a:pPr marL="342900" indent="-342900">
              <a:lnSpc>
                <a:spcPct val="150000"/>
              </a:lnSpc>
              <a:buFont typeface="Wingdings" panose="05000000000000000000" pitchFamily="2" charset="2"/>
              <a:buChar char="Ø"/>
            </a:pPr>
            <a:r>
              <a:rPr lang="en-IN" sz="2000" dirty="0">
                <a:solidFill>
                  <a:srgbClr val="FF3300"/>
                </a:solidFill>
                <a:latin typeface="Segoe UI Semibold" panose="020B0702040204020203" pitchFamily="34" charset="0"/>
                <a:cs typeface="Segoe UI Semibold" panose="020B0702040204020203" pitchFamily="34" charset="0"/>
              </a:rPr>
              <a:t>Seafood is the highest-revenue food category.</a:t>
            </a:r>
          </a:p>
          <a:p>
            <a:pPr marL="342900" indent="-342900">
              <a:lnSpc>
                <a:spcPct val="150000"/>
              </a:lnSpc>
              <a:buFont typeface="Wingdings" panose="05000000000000000000" pitchFamily="2" charset="2"/>
              <a:buChar char="Ø"/>
            </a:pPr>
            <a:r>
              <a:rPr lang="en-IN" sz="2000" dirty="0">
                <a:solidFill>
                  <a:srgbClr val="FF3300"/>
                </a:solidFill>
                <a:latin typeface="Segoe UI Semibold" panose="020B0702040204020203" pitchFamily="34" charset="0"/>
                <a:cs typeface="Segoe UI Semibold" panose="020B0702040204020203" pitchFamily="34" charset="0"/>
              </a:rPr>
              <a:t>Absolute Barbecues leads restaurant-wise recorded net revenue.</a:t>
            </a:r>
          </a:p>
          <a:p>
            <a:pPr marL="342900" indent="-342900">
              <a:lnSpc>
                <a:spcPct val="150000"/>
              </a:lnSpc>
              <a:buFont typeface="Wingdings" panose="05000000000000000000" pitchFamily="2" charset="2"/>
              <a:buChar char="Ø"/>
            </a:pPr>
            <a:r>
              <a:rPr lang="en-IN" sz="2000" dirty="0">
                <a:solidFill>
                  <a:srgbClr val="FF3300"/>
                </a:solidFill>
                <a:latin typeface="Segoe UI Semibold" panose="020B0702040204020203" pitchFamily="34" charset="0"/>
                <a:cs typeface="Segoe UI Semibold" panose="020B0702040204020203" pitchFamily="34" charset="0"/>
              </a:rPr>
              <a:t>Delivery distance has a positive relationship with delivery time.</a:t>
            </a:r>
          </a:p>
          <a:p>
            <a:pPr marL="342900" indent="-342900">
              <a:lnSpc>
                <a:spcPct val="150000"/>
              </a:lnSpc>
              <a:buFont typeface="Wingdings" panose="05000000000000000000" pitchFamily="2" charset="2"/>
              <a:buChar char="Ø"/>
            </a:pPr>
            <a:r>
              <a:rPr lang="en-IN" sz="2000" dirty="0">
                <a:solidFill>
                  <a:srgbClr val="FF3300"/>
                </a:solidFill>
                <a:latin typeface="Segoe UI Semibold" panose="020B0702040204020203" pitchFamily="34" charset="0"/>
                <a:cs typeface="Segoe UI Semibold" panose="020B0702040204020203" pitchFamily="34" charset="0"/>
              </a:rPr>
              <a:t>Delivery time has a weak negative relationship with customer ratings.</a:t>
            </a:r>
          </a:p>
          <a:p>
            <a:pPr marL="342900" indent="-342900">
              <a:lnSpc>
                <a:spcPct val="150000"/>
              </a:lnSpc>
              <a:buFont typeface="Wingdings" panose="05000000000000000000" pitchFamily="2" charset="2"/>
              <a:buChar char="Ø"/>
            </a:pPr>
            <a:r>
              <a:rPr lang="en-IN" sz="2000" b="1" dirty="0">
                <a:solidFill>
                  <a:srgbClr val="FF3300"/>
                </a:solidFill>
                <a:latin typeface="Segoe UI Semibold" panose="020B0702040204020203" pitchFamily="34" charset="0"/>
                <a:cs typeface="Segoe UI Semibold" panose="020B0702040204020203" pitchFamily="34" charset="0"/>
              </a:rPr>
              <a:t>Business recommendations</a:t>
            </a:r>
            <a:endParaRPr lang="en-IN" sz="2000" dirty="0">
              <a:solidFill>
                <a:srgbClr val="FF3300"/>
              </a:solidFill>
              <a:latin typeface="Segoe UI Semibold" panose="020B0702040204020203" pitchFamily="34" charset="0"/>
              <a:cs typeface="Segoe UI Semibold" panose="020B0702040204020203" pitchFamily="34" charset="0"/>
            </a:endParaRPr>
          </a:p>
        </p:txBody>
      </p:sp>
      <p:sp>
        <p:nvSpPr>
          <p:cNvPr id="36" name="Rectangle: Rounded Corners 35">
            <a:extLst>
              <a:ext uri="{FF2B5EF4-FFF2-40B4-BE49-F238E27FC236}">
                <a16:creationId xmlns:a16="http://schemas.microsoft.com/office/drawing/2014/main" id="{9401A87B-B437-AC4C-B495-A9816B8F1FB0}"/>
              </a:ext>
            </a:extLst>
          </p:cNvPr>
          <p:cNvSpPr/>
          <p:nvPr/>
        </p:nvSpPr>
        <p:spPr>
          <a:xfrm>
            <a:off x="11044518" y="6517341"/>
            <a:ext cx="1147482" cy="34065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rgbClr val="FF3300"/>
                </a:solidFill>
                <a:latin typeface="Arial Black" panose="020B0A04020102020204" pitchFamily="34" charset="0"/>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7DA797-02D1-7736-7DB5-FB25A7FB759F}"/>
              </a:ext>
            </a:extLst>
          </p:cNvPr>
          <p:cNvSpPr txBox="1"/>
          <p:nvPr/>
        </p:nvSpPr>
        <p:spPr>
          <a:xfrm>
            <a:off x="706877" y="500942"/>
            <a:ext cx="5389123" cy="553998"/>
          </a:xfrm>
          <a:prstGeom prst="rect">
            <a:avLst/>
          </a:prstGeom>
          <a:noFill/>
        </p:spPr>
        <p:txBody>
          <a:bodyPr wrap="square" rtlCol="0">
            <a:spAutoFit/>
          </a:bodyPr>
          <a:lstStyle/>
          <a:p>
            <a:r>
              <a:rPr lang="en-IN" sz="3000" dirty="0">
                <a:solidFill>
                  <a:srgbClr val="FF3300"/>
                </a:solidFill>
                <a:latin typeface="Segoe UI Semibold" panose="020B0702040204020203" pitchFamily="34" charset="0"/>
                <a:cs typeface="Segoe UI Semibold" panose="020B0702040204020203" pitchFamily="34" charset="0"/>
              </a:rPr>
              <a:t>Business Recommendations</a:t>
            </a:r>
          </a:p>
        </p:txBody>
      </p:sp>
      <p:sp>
        <p:nvSpPr>
          <p:cNvPr id="6" name="Rectangle 1">
            <a:extLst>
              <a:ext uri="{FF2B5EF4-FFF2-40B4-BE49-F238E27FC236}">
                <a16:creationId xmlns:a16="http://schemas.microsoft.com/office/drawing/2014/main" id="{E3FE1D2B-F0CC-C112-C54C-BBBD4905867F}"/>
              </a:ext>
            </a:extLst>
          </p:cNvPr>
          <p:cNvSpPr>
            <a:spLocks noChangeArrowheads="1"/>
          </p:cNvSpPr>
          <p:nvPr/>
        </p:nvSpPr>
        <p:spPr bwMode="auto">
          <a:xfrm>
            <a:off x="706877" y="2098667"/>
            <a:ext cx="10309411" cy="2804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rgbClr val="FF3300"/>
                </a:solidFill>
                <a:effectLst/>
                <a:latin typeface="Segoe UI Semibold" panose="020B0702040204020203" pitchFamily="34" charset="0"/>
                <a:cs typeface="Segoe UI Semibold" panose="020B0702040204020203" pitchFamily="34" charset="0"/>
              </a:rPr>
              <a:t>Investigate revenue performance by city, restaurant, and food category.</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rgbClr val="FF3300"/>
                </a:solidFill>
                <a:effectLst/>
                <a:latin typeface="Segoe UI Semibold" panose="020B0702040204020203" pitchFamily="34" charset="0"/>
                <a:cs typeface="Segoe UI Semibold" panose="020B0702040204020203" pitchFamily="34" charset="0"/>
              </a:rPr>
              <a:t>Analyze cancellations and distinguish completed-order revenue from recorded revenue.</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rgbClr val="FF3300"/>
                </a:solidFill>
                <a:effectLst/>
                <a:latin typeface="Segoe UI Semibold" panose="020B0702040204020203" pitchFamily="34" charset="0"/>
                <a:cs typeface="Segoe UI Semibold" panose="020B0702040204020203" pitchFamily="34" charset="0"/>
              </a:rPr>
              <a:t>Review delivery times by distance and city to identify operational improvements.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rgbClr val="FF3300"/>
                </a:solidFill>
                <a:effectLst/>
                <a:latin typeface="Segoe UI Semibold" panose="020B0702040204020203" pitchFamily="34" charset="0"/>
                <a:cs typeface="Segoe UI Semibold" panose="020B0702040204020203" pitchFamily="34" charset="0"/>
              </a:rPr>
              <a:t>Monitor customer ratings alongside delivery time and order status.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rgbClr val="FF3300"/>
                </a:solidFill>
                <a:effectLst/>
                <a:latin typeface="Segoe UI Semibold" panose="020B0702040204020203" pitchFamily="34" charset="0"/>
                <a:cs typeface="Segoe UI Semibold" panose="020B0702040204020203" pitchFamily="34" charset="0"/>
              </a:rPr>
              <a:t>Improve data quality by validating missing ratings and zero delivery-time values. </a:t>
            </a:r>
          </a:p>
        </p:txBody>
      </p:sp>
      <p:sp>
        <p:nvSpPr>
          <p:cNvPr id="9" name="Rectangle: Rounded Corners 8">
            <a:extLst>
              <a:ext uri="{FF2B5EF4-FFF2-40B4-BE49-F238E27FC236}">
                <a16:creationId xmlns:a16="http://schemas.microsoft.com/office/drawing/2014/main" id="{BF5F0C78-C7CC-176B-C545-DEF8A3E700B2}"/>
              </a:ext>
            </a:extLst>
          </p:cNvPr>
          <p:cNvSpPr/>
          <p:nvPr/>
        </p:nvSpPr>
        <p:spPr>
          <a:xfrm>
            <a:off x="11044518" y="6517341"/>
            <a:ext cx="1147482" cy="34065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rgbClr val="FF3300"/>
                </a:solidFill>
                <a:latin typeface="Arial Black" panose="020B0A04020102020204" pitchFamily="34" charset="0"/>
              </a:rPr>
              <a:t>10</a:t>
            </a:r>
          </a:p>
        </p:txBody>
      </p:sp>
    </p:spTree>
    <p:extLst>
      <p:ext uri="{BB962C8B-B14F-4D97-AF65-F5344CB8AC3E}">
        <p14:creationId xmlns:p14="http://schemas.microsoft.com/office/powerpoint/2010/main" val="2630828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51770-9FD7-BC49-DC77-66258376DD5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DA14FC-8E1D-9B3F-6C64-FA59D15CA29C}"/>
              </a:ext>
            </a:extLst>
          </p:cNvPr>
          <p:cNvSpPr txBox="1"/>
          <p:nvPr/>
        </p:nvSpPr>
        <p:spPr>
          <a:xfrm>
            <a:off x="2429435" y="2089718"/>
            <a:ext cx="3370729" cy="1200329"/>
          </a:xfrm>
          <a:prstGeom prst="rect">
            <a:avLst/>
          </a:prstGeom>
          <a:noFill/>
        </p:spPr>
        <p:txBody>
          <a:bodyPr wrap="square" rtlCol="0">
            <a:spAutoFit/>
          </a:bodyPr>
          <a:lstStyle/>
          <a:p>
            <a:r>
              <a:rPr lang="en-IN" sz="7200" dirty="0">
                <a:solidFill>
                  <a:srgbClr val="FF3300"/>
                </a:solidFill>
                <a:latin typeface="Segoe UI Semibold" panose="020B0702040204020203" pitchFamily="34" charset="0"/>
                <a:cs typeface="Segoe UI Semibold" panose="020B0702040204020203" pitchFamily="34" charset="0"/>
              </a:rPr>
              <a:t>THANK</a:t>
            </a:r>
          </a:p>
        </p:txBody>
      </p:sp>
      <p:sp>
        <p:nvSpPr>
          <p:cNvPr id="5" name="TextBox 4">
            <a:extLst>
              <a:ext uri="{FF2B5EF4-FFF2-40B4-BE49-F238E27FC236}">
                <a16:creationId xmlns:a16="http://schemas.microsoft.com/office/drawing/2014/main" id="{B2CD0E3B-2275-95E7-BB32-4235D98F078A}"/>
              </a:ext>
            </a:extLst>
          </p:cNvPr>
          <p:cNvSpPr txBox="1"/>
          <p:nvPr/>
        </p:nvSpPr>
        <p:spPr>
          <a:xfrm>
            <a:off x="5298141" y="3594847"/>
            <a:ext cx="3693459" cy="1200329"/>
          </a:xfrm>
          <a:prstGeom prst="rect">
            <a:avLst/>
          </a:prstGeom>
          <a:noFill/>
        </p:spPr>
        <p:txBody>
          <a:bodyPr wrap="square" rtlCol="0">
            <a:spAutoFit/>
          </a:bodyPr>
          <a:lstStyle/>
          <a:p>
            <a:r>
              <a:rPr lang="en-IN" sz="7200" dirty="0">
                <a:solidFill>
                  <a:srgbClr val="FF3300"/>
                </a:solidFill>
                <a:latin typeface="Segoe UI Semibold" panose="020B0702040204020203" pitchFamily="34" charset="0"/>
                <a:cs typeface="Segoe UI Semibold" panose="020B0702040204020203" pitchFamily="34" charset="0"/>
              </a:rPr>
              <a:t>YOU…!!!</a:t>
            </a:r>
          </a:p>
        </p:txBody>
      </p:sp>
      <p:sp>
        <p:nvSpPr>
          <p:cNvPr id="8" name="Rectangle: Rounded Corners 7">
            <a:extLst>
              <a:ext uri="{FF2B5EF4-FFF2-40B4-BE49-F238E27FC236}">
                <a16:creationId xmlns:a16="http://schemas.microsoft.com/office/drawing/2014/main" id="{5F8C47CB-C4DE-E507-AB8D-283F07532928}"/>
              </a:ext>
            </a:extLst>
          </p:cNvPr>
          <p:cNvSpPr/>
          <p:nvPr/>
        </p:nvSpPr>
        <p:spPr>
          <a:xfrm>
            <a:off x="11044518" y="6517341"/>
            <a:ext cx="1147482" cy="34065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rgbClr val="FF3300"/>
                </a:solidFill>
                <a:latin typeface="Arial Black" panose="020B0A04020102020204" pitchFamily="34" charset="0"/>
              </a:rPr>
              <a:t>11</a:t>
            </a:r>
          </a:p>
        </p:txBody>
      </p:sp>
    </p:spTree>
    <p:extLst>
      <p:ext uri="{BB962C8B-B14F-4D97-AF65-F5344CB8AC3E}">
        <p14:creationId xmlns:p14="http://schemas.microsoft.com/office/powerpoint/2010/main" val="38587870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2481</TotalTime>
  <Words>785</Words>
  <Application>Microsoft Office PowerPoint</Application>
  <PresentationFormat>Widescreen</PresentationFormat>
  <Paragraphs>113</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Segoe UI Semibold</vt:lpstr>
      <vt:lpstr>Arial Black</vt:lpstr>
      <vt:lpstr>Host Grotesk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Dhiraj Supe</cp:lastModifiedBy>
  <cp:revision>6</cp:revision>
  <dcterms:created xsi:type="dcterms:W3CDTF">2026-10-09T10:50:37Z</dcterms:created>
  <dcterms:modified xsi:type="dcterms:W3CDTF">2026-10-11T04:12:16Z</dcterms:modified>
</cp:coreProperties>
</file>